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58" r:id="rId3"/>
    <p:sldId id="274" r:id="rId4"/>
    <p:sldId id="265" r:id="rId5"/>
    <p:sldId id="266" r:id="rId6"/>
    <p:sldId id="278" r:id="rId7"/>
    <p:sldId id="267" r:id="rId8"/>
    <p:sldId id="260" r:id="rId9"/>
    <p:sldId id="261" r:id="rId10"/>
    <p:sldId id="289" r:id="rId11"/>
    <p:sldId id="264" r:id="rId12"/>
    <p:sldId id="279" r:id="rId13"/>
    <p:sldId id="281" r:id="rId14"/>
    <p:sldId id="284" r:id="rId15"/>
    <p:sldId id="282" r:id="rId16"/>
    <p:sldId id="283" r:id="rId17"/>
    <p:sldId id="290" r:id="rId18"/>
    <p:sldId id="291" r:id="rId19"/>
    <p:sldId id="287" r:id="rId20"/>
    <p:sldId id="286" r:id="rId21"/>
    <p:sldId id="269" r:id="rId22"/>
    <p:sldId id="285" r:id="rId23"/>
    <p:sldId id="276" r:id="rId24"/>
    <p:sldId id="280" r:id="rId25"/>
    <p:sldId id="272" r:id="rId26"/>
    <p:sldId id="262" r:id="rId27"/>
  </p:sldIdLst>
  <p:sldSz cx="9144000" cy="6858000" type="screen4x3"/>
  <p:notesSz cx="6858000" cy="9144000"/>
  <p:custDataLst>
    <p:tags r:id="rId29"/>
  </p:custDataLst>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9" autoAdjust="0"/>
    <p:restoredTop sz="94660"/>
  </p:normalViewPr>
  <p:slideViewPr>
    <p:cSldViewPr snapToGrid="0">
      <p:cViewPr varScale="1">
        <p:scale>
          <a:sx n="81" d="100"/>
          <a:sy n="81" d="100"/>
        </p:scale>
        <p:origin x="1478"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39"/>
        <p:cNvGrpSpPr/>
        <p:nvPr/>
      </p:nvGrpSpPr>
      <p:grpSpPr>
        <a:xfrm>
          <a:off x="0" y="0"/>
          <a:ext cx="0" cy="0"/>
          <a:chOff x="0" y="0"/>
          <a:chExt cx="0" cy="0"/>
        </a:xfrm>
      </p:grpSpPr>
      <p:sp>
        <p:nvSpPr>
          <p:cNvPr id="40" name="Google Shape;40;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9538528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3451ef95cadb014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g3451ef95cadb014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84657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D063BD56-785C-47B3-84E8-D03E7C9BA33E}" type="datetimeFigureOut">
              <a:rPr lang="en-IN" smtClean="0"/>
              <a:t>24-04-2026</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E0F5721F-E3E3-4C64-92D4-B796D38A99C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063BD56-785C-47B3-84E8-D03E7C9BA33E}"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F5721F-E3E3-4C64-92D4-B796D38A99C6}" type="slidenum">
              <a:rPr lang="en-IN" smtClean="0"/>
              <a:t>‹#›</a:t>
            </a:fld>
            <a:endParaRPr lang="en-IN"/>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D063BD56-785C-47B3-84E8-D03E7C9BA33E}"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F5721F-E3E3-4C64-92D4-B796D38A99C6}"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D063BD56-785C-47B3-84E8-D03E7C9BA33E}"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F5721F-E3E3-4C64-92D4-B796D38A99C6}" type="slidenum">
              <a:rPr lang="en-IN" smtClean="0"/>
              <a:t>‹#›</a:t>
            </a:fld>
            <a:endParaRPr lang="en-IN"/>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063BD56-785C-47B3-84E8-D03E7C9BA33E}"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0F5721F-E3E3-4C64-92D4-B796D38A99C6}"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063BD56-785C-47B3-84E8-D03E7C9BA33E}" type="datetimeFigureOut">
              <a:rPr lang="en-IN" smtClean="0"/>
              <a:t>24-04-2026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0F5721F-E3E3-4C64-92D4-B796D38A99C6}" type="slidenum">
              <a:rPr lang="en-IN" smtClean="0"/>
              <a:t>‹#›</a:t>
            </a:fld>
            <a:endParaRPr lang="en-IN"/>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63BD56-785C-47B3-84E8-D03E7C9BA33E}" type="datetimeFigureOut">
              <a:rPr lang="en-IN" smtClean="0"/>
              <a:t>24-04-2026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0F5721F-E3E3-4C64-92D4-B796D38A99C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D063BD56-785C-47B3-84E8-D03E7C9BA33E}"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F5721F-E3E3-4C64-92D4-B796D38A99C6}"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D063BD56-785C-47B3-84E8-D03E7C9BA33E}" type="datetimeFigureOut">
              <a:rPr lang="en-IN" smtClean="0"/>
              <a:t>24-04-2026</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E0F5721F-E3E3-4C64-92D4-B796D38A99C6}"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063BD56-785C-47B3-84E8-D03E7C9BA33E}"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F5721F-E3E3-4C64-92D4-B796D38A99C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063BD56-785C-47B3-84E8-D03E7C9BA33E}"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F5721F-E3E3-4C64-92D4-B796D38A99C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D063BD56-785C-47B3-84E8-D03E7C9BA33E}" type="datetimeFigureOut">
              <a:rPr lang="en-IN" smtClean="0"/>
              <a:t>24-04-2026</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E0F5721F-E3E3-4C64-92D4-B796D38A99C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1"/>
          <p:cNvSpPr txBox="1">
            <a:spLocks noGrp="1"/>
          </p:cNvSpPr>
          <p:nvPr>
            <p:ph type="body" idx="1"/>
          </p:nvPr>
        </p:nvSpPr>
        <p:spPr>
          <a:xfrm>
            <a:off x="64008" y="3717032"/>
            <a:ext cx="8738542" cy="2365800"/>
          </a:xfrm>
          <a:prstGeom prst="rect">
            <a:avLst/>
          </a:prstGeom>
          <a:noFill/>
          <a:ln>
            <a:noFill/>
          </a:ln>
        </p:spPr>
        <p:txBody>
          <a:bodyPr spcFirstLastPara="1" wrap="square" lIns="91425" tIns="45700" rIns="91425" bIns="45700" anchor="t" anchorCtr="0">
            <a:normAutofit/>
          </a:bodyPr>
          <a:lstStyle/>
          <a:p>
            <a:pPr marL="109728" lvl="0" indent="0" algn="l" rtl="0">
              <a:spcBef>
                <a:spcPts val="0"/>
              </a:spcBef>
              <a:spcAft>
                <a:spcPts val="0"/>
              </a:spcAft>
              <a:buSzPts val="1632"/>
              <a:buNone/>
            </a:pPr>
            <a:r>
              <a:rPr lang="en-US" sz="2400" b="1" dirty="0"/>
              <a:t>Team Members:</a:t>
            </a:r>
            <a:endParaRPr dirty="0"/>
          </a:p>
          <a:p>
            <a:pPr marL="621792" lvl="1" indent="-228600" algn="l" rtl="0">
              <a:lnSpc>
                <a:spcPct val="150000"/>
              </a:lnSpc>
              <a:spcBef>
                <a:spcPts val="324"/>
              </a:spcBef>
              <a:spcAft>
                <a:spcPts val="0"/>
              </a:spcAft>
              <a:buSzPts val="2000"/>
              <a:buChar char="◦"/>
            </a:pPr>
            <a:r>
              <a:rPr lang="en-US" sz="2000" b="1" dirty="0"/>
              <a:t>A. HARINIVAS REDDY–24B81A66E7</a:t>
            </a:r>
            <a:endParaRPr dirty="0"/>
          </a:p>
          <a:p>
            <a:pPr marL="621792" lvl="1" indent="-228600" algn="l" rtl="0">
              <a:lnSpc>
                <a:spcPct val="150000"/>
              </a:lnSpc>
              <a:spcBef>
                <a:spcPts val="324"/>
              </a:spcBef>
              <a:spcAft>
                <a:spcPts val="0"/>
              </a:spcAft>
              <a:buSzPts val="2000"/>
              <a:buChar char="◦"/>
            </a:pPr>
            <a:r>
              <a:rPr lang="en-US" sz="2000" b="1" dirty="0"/>
              <a:t>MD. ABUL AZEEM– 24B81A66D1</a:t>
            </a:r>
            <a:endParaRPr dirty="0"/>
          </a:p>
          <a:p>
            <a:pPr marL="621792" lvl="1" indent="-228600" algn="l" rtl="0">
              <a:lnSpc>
                <a:spcPct val="150000"/>
              </a:lnSpc>
              <a:spcBef>
                <a:spcPts val="324"/>
              </a:spcBef>
              <a:spcAft>
                <a:spcPts val="0"/>
              </a:spcAft>
              <a:buSzPts val="2000"/>
              <a:buChar char="◦"/>
            </a:pPr>
            <a:r>
              <a:rPr lang="en-US" sz="2000" b="1" dirty="0"/>
              <a:t>G. HARSHAVARDHAN –24B81A66E8</a:t>
            </a:r>
            <a:endParaRPr dirty="0"/>
          </a:p>
          <a:p>
            <a:pPr marL="365760" lvl="0" indent="-152400" algn="l" rtl="0">
              <a:lnSpc>
                <a:spcPct val="150000"/>
              </a:lnSpc>
              <a:spcBef>
                <a:spcPts val="400"/>
              </a:spcBef>
              <a:spcAft>
                <a:spcPts val="0"/>
              </a:spcAft>
              <a:buSzPts val="1632"/>
              <a:buNone/>
            </a:pPr>
            <a:endParaRPr sz="2400" b="1" dirty="0"/>
          </a:p>
        </p:txBody>
      </p:sp>
      <p:sp>
        <p:nvSpPr>
          <p:cNvPr id="34" name="Google Shape;34;p1"/>
          <p:cNvSpPr txBox="1">
            <a:spLocks noGrp="1"/>
          </p:cNvSpPr>
          <p:nvPr>
            <p:ph type="title"/>
          </p:nvPr>
        </p:nvSpPr>
        <p:spPr>
          <a:xfrm>
            <a:off x="1151100" y="340774"/>
            <a:ext cx="7992900" cy="1240379"/>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600"/>
              <a:buFont typeface="Arial"/>
              <a:buNone/>
            </a:pPr>
            <a:r>
              <a:rPr lang="en-US" sz="3600" cap="none" dirty="0">
                <a:solidFill>
                  <a:schemeClr val="dk1"/>
                </a:solidFill>
                <a:latin typeface="Cg omega"/>
                <a:ea typeface="Arial"/>
                <a:cs typeface="Arial"/>
                <a:sym typeface="Arial"/>
              </a:rPr>
              <a:t>CVR COLLEGE OF ENGINEERING</a:t>
            </a:r>
            <a:br>
              <a:rPr lang="en-US" sz="3600" cap="none" dirty="0">
                <a:solidFill>
                  <a:schemeClr val="dk1"/>
                </a:solidFill>
                <a:latin typeface="Arial"/>
                <a:ea typeface="Arial"/>
                <a:cs typeface="Arial"/>
                <a:sym typeface="Arial"/>
              </a:rPr>
            </a:br>
            <a:endParaRPr sz="4000" cap="none" dirty="0">
              <a:solidFill>
                <a:schemeClr val="dk1"/>
              </a:solidFill>
              <a:latin typeface="Arial"/>
              <a:ea typeface="Arial"/>
              <a:cs typeface="Arial"/>
              <a:sym typeface="Arial"/>
            </a:endParaRPr>
          </a:p>
        </p:txBody>
      </p:sp>
      <p:sp>
        <p:nvSpPr>
          <p:cNvPr id="35" name="Google Shape;35;p1"/>
          <p:cNvSpPr txBox="1"/>
          <p:nvPr/>
        </p:nvSpPr>
        <p:spPr>
          <a:xfrm>
            <a:off x="572950" y="1771950"/>
            <a:ext cx="8229600" cy="17542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dirty="0">
                <a:solidFill>
                  <a:srgbClr val="000099"/>
                </a:solidFill>
                <a:latin typeface="Lucida Sans"/>
                <a:ea typeface="Lucida Sans"/>
                <a:cs typeface="Lucida Sans"/>
                <a:sym typeface="Lucida Sans"/>
              </a:rPr>
              <a:t>Real-Time / Field-Based Research Project Stage -2</a:t>
            </a:r>
            <a:endParaRPr sz="3600" b="1" dirty="0">
              <a:solidFill>
                <a:srgbClr val="000099"/>
              </a:solidFill>
              <a:latin typeface="Lucida Sans"/>
              <a:ea typeface="Lucida Sans"/>
              <a:cs typeface="Lucida Sans"/>
              <a:sym typeface="Lucida Sans"/>
            </a:endParaRPr>
          </a:p>
          <a:p>
            <a:pPr marL="0" marR="0" lvl="0" indent="0" algn="ctr" rtl="0">
              <a:spcBef>
                <a:spcPts val="0"/>
              </a:spcBef>
              <a:spcAft>
                <a:spcPts val="0"/>
              </a:spcAft>
              <a:buNone/>
            </a:pPr>
            <a:r>
              <a:rPr lang="en-US" sz="3600" b="1" dirty="0">
                <a:solidFill>
                  <a:srgbClr val="000099"/>
                </a:solidFill>
                <a:latin typeface="Lucida Sans"/>
                <a:ea typeface="Lucida Sans"/>
                <a:cs typeface="Lucida Sans"/>
                <a:sym typeface="Lucida Sans"/>
              </a:rPr>
              <a:t>FOCUS SENSE</a:t>
            </a:r>
            <a:endParaRPr sz="3600" b="1" dirty="0">
              <a:solidFill>
                <a:srgbClr val="000099"/>
              </a:solidFill>
              <a:latin typeface="Lucida Sans"/>
              <a:ea typeface="Lucida Sans"/>
              <a:cs typeface="Lucida Sans"/>
              <a:sym typeface="Lucida Sans"/>
            </a:endParaRPr>
          </a:p>
        </p:txBody>
      </p:sp>
      <p:pic>
        <p:nvPicPr>
          <p:cNvPr id="36" name="Google Shape;36;p1"/>
          <p:cNvPicPr preferRelativeResize="0"/>
          <p:nvPr/>
        </p:nvPicPr>
        <p:blipFill rotWithShape="1">
          <a:blip r:embed="rId2">
            <a:alphaModFix/>
          </a:blip>
          <a:srcRect/>
          <a:stretch/>
        </p:blipFill>
        <p:spPr>
          <a:xfrm>
            <a:off x="179512" y="314214"/>
            <a:ext cx="971600" cy="936104"/>
          </a:xfrm>
          <a:prstGeom prst="rect">
            <a:avLst/>
          </a:prstGeom>
          <a:noFill/>
          <a:ln>
            <a:noFill/>
          </a:ln>
        </p:spPr>
      </p:pic>
      <p:sp>
        <p:nvSpPr>
          <p:cNvPr id="37" name="Google Shape;37;p1"/>
          <p:cNvSpPr txBox="1"/>
          <p:nvPr/>
        </p:nvSpPr>
        <p:spPr>
          <a:xfrm>
            <a:off x="1381361" y="1050603"/>
            <a:ext cx="68409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dirty="0">
                <a:solidFill>
                  <a:schemeClr val="dk1"/>
                </a:solidFill>
                <a:latin typeface="Lucida Sans"/>
                <a:ea typeface="Lucida Sans"/>
                <a:cs typeface="Lucida Sans"/>
                <a:sym typeface="Lucida Sans"/>
              </a:rPr>
              <a:t>Department of CSE(AI&amp;ML)</a:t>
            </a:r>
            <a:endParaRPr sz="2400" dirty="0">
              <a:solidFill>
                <a:schemeClr val="dk1"/>
              </a:solidFill>
              <a:latin typeface="Lucida Sans"/>
              <a:ea typeface="Lucida Sans"/>
              <a:cs typeface="Lucida Sans"/>
              <a:sym typeface="Lucida Sans"/>
            </a:endParaRPr>
          </a:p>
        </p:txBody>
      </p:sp>
      <p:sp>
        <p:nvSpPr>
          <p:cNvPr id="38" name="Google Shape;38;p1"/>
          <p:cNvSpPr txBox="1"/>
          <p:nvPr/>
        </p:nvSpPr>
        <p:spPr>
          <a:xfrm>
            <a:off x="5147550" y="3429000"/>
            <a:ext cx="4105656" cy="19200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Times New Roman"/>
                <a:ea typeface="Times New Roman"/>
                <a:cs typeface="Times New Roman"/>
                <a:sym typeface="Times New Roman"/>
              </a:rPr>
              <a:t>Under the guidance of </a:t>
            </a:r>
          </a:p>
          <a:p>
            <a:pPr marL="0" marR="0" lvl="0" indent="0" algn="ctr" rtl="0">
              <a:lnSpc>
                <a:spcPct val="100000"/>
              </a:lnSpc>
              <a:spcBef>
                <a:spcPts val="0"/>
              </a:spcBef>
              <a:spcAft>
                <a:spcPts val="0"/>
              </a:spcAft>
              <a:buClr>
                <a:srgbClr val="000000"/>
              </a:buClr>
              <a:buSzPts val="2400"/>
              <a:buFont typeface="Arial"/>
              <a:buNone/>
            </a:pPr>
            <a:r>
              <a:rPr lang="en-US" sz="2000" b="1" dirty="0">
                <a:latin typeface="Times New Roman"/>
                <a:ea typeface="Times New Roman"/>
                <a:cs typeface="Times New Roman"/>
                <a:sym typeface="Times New Roman"/>
              </a:rPr>
              <a:t>Dr N. HANUMANTHARAO</a:t>
            </a:r>
            <a:endParaRPr sz="2000" b="1" dirty="0">
              <a:latin typeface="Times New Roman"/>
              <a:ea typeface="Times New Roman"/>
              <a:cs typeface="Times New Roman"/>
              <a:sym typeface="Times New Roman"/>
            </a:endParaRPr>
          </a:p>
          <a:p>
            <a:pPr marL="0" marR="0" lvl="0" indent="0" algn="ctr" rtl="0">
              <a:lnSpc>
                <a:spcPct val="100000"/>
              </a:lnSpc>
              <a:spcBef>
                <a:spcPts val="1000"/>
              </a:spcBef>
              <a:spcAft>
                <a:spcPts val="0"/>
              </a:spcAft>
              <a:buClr>
                <a:srgbClr val="000000"/>
              </a:buClr>
              <a:buSzPts val="2400"/>
              <a:buFont typeface="Arial"/>
              <a:buNone/>
            </a:pPr>
            <a:r>
              <a:rPr lang="en-US" sz="2400" dirty="0">
                <a:latin typeface="Times New Roman"/>
                <a:ea typeface="Times New Roman"/>
                <a:cs typeface="Times New Roman"/>
                <a:sym typeface="Times New Roman"/>
              </a:rPr>
              <a:t>Associate Professor</a:t>
            </a:r>
            <a:endParaRPr sz="2400"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a:t>Focus Sense is an AI based system designed to monitor user concentration levels.</a:t>
            </a:r>
          </a:p>
          <a:p>
            <a:r>
              <a:rPr lang="en-US" sz="2000" dirty="0"/>
              <a:t>The system targets students, undergraduates, and professionals facing difficulty in maintaining focus.</a:t>
            </a:r>
          </a:p>
          <a:p>
            <a:r>
              <a:rPr lang="en-US" sz="2000" dirty="0"/>
              <a:t>It uses </a:t>
            </a:r>
            <a:r>
              <a:rPr lang="en-US" sz="2000" b="1" dirty="0"/>
              <a:t>Machine Learning </a:t>
            </a:r>
            <a:r>
              <a:rPr lang="en-US" sz="2000" dirty="0"/>
              <a:t>and</a:t>
            </a:r>
            <a:r>
              <a:rPr lang="en-US" sz="2000" b="1" dirty="0"/>
              <a:t> Convolutional Neural Networks (CNN)</a:t>
            </a:r>
            <a:r>
              <a:rPr lang="en-US" sz="2000" dirty="0"/>
              <a:t> for classification.</a:t>
            </a:r>
          </a:p>
          <a:p>
            <a:r>
              <a:rPr lang="en-US" sz="2000" b="1" dirty="0"/>
              <a:t>OpenCV</a:t>
            </a:r>
            <a:r>
              <a:rPr lang="en-US" sz="2000" dirty="0"/>
              <a:t> is used for real-time video processing through a webcam.</a:t>
            </a:r>
          </a:p>
          <a:p>
            <a:r>
              <a:rPr lang="en-US" sz="2000" dirty="0"/>
              <a:t>The system aims to reduce distractions and enhance work efficiency.</a:t>
            </a:r>
          </a:p>
          <a:p>
            <a:endParaRPr lang="en-US" sz="2000" dirty="0">
              <a:latin typeface="Calibri" pitchFamily="34" charset="0"/>
              <a:cs typeface="Calibri" pitchFamily="34" charset="0"/>
            </a:endParaRPr>
          </a:p>
          <a:p>
            <a:pPr marL="109728" indent="0">
              <a:buNone/>
            </a:pPr>
            <a:r>
              <a:rPr lang="en-US" dirty="0"/>
              <a:t> </a:t>
            </a:r>
            <a:endParaRPr lang="en-IN" sz="2000" dirty="0"/>
          </a:p>
        </p:txBody>
      </p:sp>
      <p:sp>
        <p:nvSpPr>
          <p:cNvPr id="3" name="Title 2"/>
          <p:cNvSpPr>
            <a:spLocks noGrp="1"/>
          </p:cNvSpPr>
          <p:nvPr>
            <p:ph type="title"/>
          </p:nvPr>
        </p:nvSpPr>
        <p:spPr/>
        <p:txBody>
          <a:bodyPr/>
          <a:lstStyle/>
          <a:p>
            <a:pPr algn="ctr"/>
            <a:r>
              <a:rPr lang="en-US" dirty="0">
                <a:solidFill>
                  <a:schemeClr val="tx1"/>
                </a:solidFill>
              </a:rPr>
              <a:t>Abstract</a:t>
            </a:r>
            <a:endParaRPr lang="en-IN" dirty="0">
              <a:solidFill>
                <a:schemeClr val="tx1"/>
              </a:solidFill>
            </a:endParaRPr>
          </a:p>
        </p:txBody>
      </p:sp>
    </p:spTree>
    <p:extLst>
      <p:ext uri="{BB962C8B-B14F-4D97-AF65-F5344CB8AC3E}">
        <p14:creationId xmlns:p14="http://schemas.microsoft.com/office/powerpoint/2010/main" val="3918654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dirty="0"/>
              <a:t>Maintaining focus has become increasingly difficult in today’s digital environment due to constant exposure to social media and multiple tasks. These distractions reduce attention span and negatively impact productivity and efficiency.</a:t>
            </a:r>
          </a:p>
          <a:p>
            <a:r>
              <a:rPr lang="en-US" sz="2000" dirty="0"/>
              <a:t>Lack of concentration affects productivity of students and professionals.</a:t>
            </a:r>
          </a:p>
          <a:p>
            <a:r>
              <a:rPr lang="en-US" sz="2000" b="1" dirty="0"/>
              <a:t>Focus Sense</a:t>
            </a:r>
            <a:r>
              <a:rPr lang="en-US" sz="2000" dirty="0"/>
              <a:t> is an AI based system to monitor user attention in real time.</a:t>
            </a:r>
          </a:p>
          <a:p>
            <a:r>
              <a:rPr lang="en-US" sz="2000" dirty="0"/>
              <a:t>Helps improve productivity through real-time monitoring and feedback. </a:t>
            </a:r>
          </a:p>
          <a:p>
            <a:endParaRPr lang="en-US" sz="2000" dirty="0">
              <a:latin typeface="Calibri" pitchFamily="34" charset="0"/>
              <a:cs typeface="Calibri" pitchFamily="34" charset="0"/>
            </a:endParaRPr>
          </a:p>
        </p:txBody>
      </p:sp>
      <p:sp>
        <p:nvSpPr>
          <p:cNvPr id="3" name="Title 2"/>
          <p:cNvSpPr>
            <a:spLocks noGrp="1"/>
          </p:cNvSpPr>
          <p:nvPr>
            <p:ph type="title"/>
          </p:nvPr>
        </p:nvSpPr>
        <p:spPr/>
        <p:txBody>
          <a:bodyPr/>
          <a:lstStyle/>
          <a:p>
            <a:r>
              <a:rPr lang="en-US" dirty="0"/>
              <a:t>Introduction</a:t>
            </a:r>
            <a:endParaRPr lang="en-IN" dirty="0"/>
          </a:p>
        </p:txBody>
      </p:sp>
    </p:spTree>
    <p:extLst>
      <p:ext uri="{BB962C8B-B14F-4D97-AF65-F5344CB8AC3E}">
        <p14:creationId xmlns:p14="http://schemas.microsoft.com/office/powerpoint/2010/main" val="876218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dirty="0"/>
              <a:t>Many students and professionals struggle to maintain focus during study and work sessions.</a:t>
            </a:r>
            <a:endParaRPr lang="en-US" sz="2000" dirty="0">
              <a:latin typeface="Calibri" pitchFamily="34" charset="0"/>
              <a:cs typeface="Calibri" pitchFamily="34" charset="0"/>
            </a:endParaRPr>
          </a:p>
          <a:p>
            <a:r>
              <a:rPr lang="en-US" sz="2000" dirty="0"/>
              <a:t>Frequent distractions such as social media, mobile apps, and multitasking reduce productivity.</a:t>
            </a:r>
          </a:p>
          <a:p>
            <a:r>
              <a:rPr lang="en-US" sz="2000" dirty="0"/>
              <a:t>Existing tools do not accurately monitor real-time user attention.</a:t>
            </a:r>
          </a:p>
          <a:p>
            <a:r>
              <a:rPr lang="en-US" sz="2000" dirty="0"/>
              <a:t>Lack of automated systems to detect whether a person is focused or distracted.</a:t>
            </a:r>
          </a:p>
          <a:p>
            <a:r>
              <a:rPr lang="en-US" sz="2000" dirty="0"/>
              <a:t>Need for an intelligent system that can monitor, analyze, and improve user concentration.</a:t>
            </a:r>
            <a:endParaRPr lang="en-IN" sz="2000" dirty="0"/>
          </a:p>
        </p:txBody>
      </p:sp>
      <p:sp>
        <p:nvSpPr>
          <p:cNvPr id="3" name="Title 2"/>
          <p:cNvSpPr>
            <a:spLocks noGrp="1"/>
          </p:cNvSpPr>
          <p:nvPr>
            <p:ph type="title"/>
          </p:nvPr>
        </p:nvSpPr>
        <p:spPr/>
        <p:txBody>
          <a:bodyPr>
            <a:normAutofit fontScale="90000"/>
          </a:bodyPr>
          <a:lstStyle/>
          <a:p>
            <a:pPr lvl="0"/>
            <a:r>
              <a:rPr lang="en-US" dirty="0"/>
              <a:t>Problem definition</a:t>
            </a:r>
            <a:br>
              <a:rPr lang="en-US" dirty="0"/>
            </a:br>
            <a:endParaRPr lang="en-IN" dirty="0"/>
          </a:p>
        </p:txBody>
      </p:sp>
    </p:spTree>
    <p:extLst>
      <p:ext uri="{BB962C8B-B14F-4D97-AF65-F5344CB8AC3E}">
        <p14:creationId xmlns:p14="http://schemas.microsoft.com/office/powerpoint/2010/main" val="884539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endParaRPr lang="en-US" dirty="0">
              <a:latin typeface="Calibri" pitchFamily="34" charset="0"/>
              <a:cs typeface="Calibri" pitchFamily="34" charset="0"/>
            </a:endParaRPr>
          </a:p>
          <a:p>
            <a:endParaRPr lang="en-IN" dirty="0"/>
          </a:p>
        </p:txBody>
      </p:sp>
      <p:sp>
        <p:nvSpPr>
          <p:cNvPr id="3" name="Title 2"/>
          <p:cNvSpPr>
            <a:spLocks noGrp="1"/>
          </p:cNvSpPr>
          <p:nvPr>
            <p:ph type="title"/>
          </p:nvPr>
        </p:nvSpPr>
        <p:spPr/>
        <p:txBody>
          <a:bodyPr>
            <a:normAutofit fontScale="90000"/>
          </a:bodyPr>
          <a:lstStyle/>
          <a:p>
            <a:pPr lvl="0"/>
            <a:r>
              <a:rPr lang="en-US" dirty="0"/>
              <a:t>Existing System</a:t>
            </a:r>
            <a:br>
              <a:rPr lang="en-US" dirty="0"/>
            </a:br>
            <a:endParaRPr lang="en-IN" dirty="0"/>
          </a:p>
        </p:txBody>
      </p:sp>
      <p:graphicFrame>
        <p:nvGraphicFramePr>
          <p:cNvPr id="4" name="Table 3">
            <a:extLst>
              <a:ext uri="{FF2B5EF4-FFF2-40B4-BE49-F238E27FC236}">
                <a16:creationId xmlns:a16="http://schemas.microsoft.com/office/drawing/2014/main" id="{F4FF8B3C-97B4-A3E3-7FBA-7C4536E82213}"/>
              </a:ext>
            </a:extLst>
          </p:cNvPr>
          <p:cNvGraphicFramePr>
            <a:graphicFrameLocks noGrp="1"/>
          </p:cNvGraphicFramePr>
          <p:nvPr/>
        </p:nvGraphicFramePr>
        <p:xfrm>
          <a:off x="457200" y="2098199"/>
          <a:ext cx="8229600" cy="3291840"/>
        </p:xfrm>
        <a:graphic>
          <a:graphicData uri="http://schemas.openxmlformats.org/drawingml/2006/table">
            <a:tbl>
              <a:tblPr/>
              <a:tblGrid>
                <a:gridCol w="4114800">
                  <a:extLst>
                    <a:ext uri="{9D8B030D-6E8A-4147-A177-3AD203B41FA5}">
                      <a16:colId xmlns:a16="http://schemas.microsoft.com/office/drawing/2014/main" val="3550226379"/>
                    </a:ext>
                  </a:extLst>
                </a:gridCol>
                <a:gridCol w="4114800">
                  <a:extLst>
                    <a:ext uri="{9D8B030D-6E8A-4147-A177-3AD203B41FA5}">
                      <a16:colId xmlns:a16="http://schemas.microsoft.com/office/drawing/2014/main" val="1765905040"/>
                    </a:ext>
                  </a:extLst>
                </a:gridCol>
              </a:tblGrid>
              <a:tr h="0">
                <a:tc>
                  <a:txBody>
                    <a:bodyPr/>
                    <a:lstStyle/>
                    <a:p>
                      <a:pPr>
                        <a:buNone/>
                      </a:pPr>
                      <a:r>
                        <a:rPr lang="en-US" b="1"/>
                        <a:t>Existing System / App</a:t>
                      </a:r>
                      <a:endParaRPr lang="en-US"/>
                    </a:p>
                  </a:txBody>
                  <a:tcPr anchor="ctr">
                    <a:lnL>
                      <a:noFill/>
                    </a:lnL>
                    <a:lnR>
                      <a:noFill/>
                    </a:lnR>
                    <a:lnT>
                      <a:noFill/>
                    </a:lnT>
                    <a:lnB>
                      <a:noFill/>
                    </a:lnB>
                    <a:noFill/>
                  </a:tcPr>
                </a:tc>
                <a:tc>
                  <a:txBody>
                    <a:bodyPr/>
                    <a:lstStyle/>
                    <a:p>
                      <a:pPr>
                        <a:buNone/>
                      </a:pPr>
                      <a:r>
                        <a:rPr lang="en-US" b="1"/>
                        <a:t>Disadvantages</a:t>
                      </a:r>
                      <a:endParaRPr lang="en-US"/>
                    </a:p>
                  </a:txBody>
                  <a:tcPr anchor="ctr">
                    <a:lnL>
                      <a:noFill/>
                    </a:lnL>
                    <a:lnR>
                      <a:noFill/>
                    </a:lnR>
                    <a:lnT>
                      <a:noFill/>
                    </a:lnT>
                    <a:lnB>
                      <a:noFill/>
                    </a:lnB>
                    <a:noFill/>
                  </a:tcPr>
                </a:tc>
                <a:extLst>
                  <a:ext uri="{0D108BD9-81ED-4DB2-BD59-A6C34878D82A}">
                    <a16:rowId xmlns:a16="http://schemas.microsoft.com/office/drawing/2014/main" val="3539630148"/>
                  </a:ext>
                </a:extLst>
              </a:tr>
              <a:tr h="0">
                <a:tc>
                  <a:txBody>
                    <a:bodyPr/>
                    <a:lstStyle/>
                    <a:p>
                      <a:pPr>
                        <a:buNone/>
                      </a:pPr>
                      <a:r>
                        <a:rPr lang="en-US"/>
                        <a:t>Timer-based apps (Pomodoro, etc.)</a:t>
                      </a:r>
                    </a:p>
                  </a:txBody>
                  <a:tcPr anchor="ctr">
                    <a:lnL>
                      <a:noFill/>
                    </a:lnL>
                    <a:lnR>
                      <a:noFill/>
                    </a:lnR>
                    <a:lnT>
                      <a:noFill/>
                    </a:lnT>
                    <a:lnB>
                      <a:noFill/>
                    </a:lnB>
                    <a:noFill/>
                  </a:tcPr>
                </a:tc>
                <a:tc>
                  <a:txBody>
                    <a:bodyPr/>
                    <a:lstStyle/>
                    <a:p>
                      <a:pPr>
                        <a:buNone/>
                      </a:pPr>
                      <a:r>
                        <a:rPr lang="en-US"/>
                        <a:t>Do not track actual user attention</a:t>
                      </a:r>
                    </a:p>
                  </a:txBody>
                  <a:tcPr anchor="ctr">
                    <a:lnL>
                      <a:noFill/>
                    </a:lnL>
                    <a:lnR>
                      <a:noFill/>
                    </a:lnR>
                    <a:lnT>
                      <a:noFill/>
                    </a:lnT>
                    <a:lnB>
                      <a:noFill/>
                    </a:lnB>
                    <a:noFill/>
                  </a:tcPr>
                </a:tc>
                <a:extLst>
                  <a:ext uri="{0D108BD9-81ED-4DB2-BD59-A6C34878D82A}">
                    <a16:rowId xmlns:a16="http://schemas.microsoft.com/office/drawing/2014/main" val="2584037945"/>
                  </a:ext>
                </a:extLst>
              </a:tr>
              <a:tr h="0">
                <a:tc>
                  <a:txBody>
                    <a:bodyPr/>
                    <a:lstStyle/>
                    <a:p>
                      <a:pPr>
                        <a:buNone/>
                      </a:pPr>
                      <a:r>
                        <a:rPr lang="en-US"/>
                        <a:t>App/Website blockers (Freedom, Cold Turkey)</a:t>
                      </a:r>
                    </a:p>
                  </a:txBody>
                  <a:tcPr anchor="ctr">
                    <a:lnL>
                      <a:noFill/>
                    </a:lnL>
                    <a:lnR>
                      <a:noFill/>
                    </a:lnR>
                    <a:lnT>
                      <a:noFill/>
                    </a:lnT>
                    <a:lnB>
                      <a:noFill/>
                    </a:lnB>
                    <a:noFill/>
                  </a:tcPr>
                </a:tc>
                <a:tc>
                  <a:txBody>
                    <a:bodyPr/>
                    <a:lstStyle/>
                    <a:p>
                      <a:pPr>
                        <a:buNone/>
                      </a:pPr>
                      <a:r>
                        <a:rPr lang="en-US"/>
                        <a:t>Only block apps, no attention analysis</a:t>
                      </a:r>
                    </a:p>
                  </a:txBody>
                  <a:tcPr anchor="ctr">
                    <a:lnL>
                      <a:noFill/>
                    </a:lnL>
                    <a:lnR>
                      <a:noFill/>
                    </a:lnR>
                    <a:lnT>
                      <a:noFill/>
                    </a:lnT>
                    <a:lnB>
                      <a:noFill/>
                    </a:lnB>
                    <a:noFill/>
                  </a:tcPr>
                </a:tc>
                <a:extLst>
                  <a:ext uri="{0D108BD9-81ED-4DB2-BD59-A6C34878D82A}">
                    <a16:rowId xmlns:a16="http://schemas.microsoft.com/office/drawing/2014/main" val="6376276"/>
                  </a:ext>
                </a:extLst>
              </a:tr>
              <a:tr h="0">
                <a:tc>
                  <a:txBody>
                    <a:bodyPr/>
                    <a:lstStyle/>
                    <a:p>
                      <a:pPr>
                        <a:buNone/>
                      </a:pPr>
                      <a:r>
                        <a:rPr lang="en-US"/>
                        <a:t>Time tracking tools (RescueTime)</a:t>
                      </a:r>
                    </a:p>
                  </a:txBody>
                  <a:tcPr anchor="ctr">
                    <a:lnL>
                      <a:noFill/>
                    </a:lnL>
                    <a:lnR>
                      <a:noFill/>
                    </a:lnR>
                    <a:lnT>
                      <a:noFill/>
                    </a:lnT>
                    <a:lnB>
                      <a:noFill/>
                    </a:lnB>
                    <a:noFill/>
                  </a:tcPr>
                </a:tc>
                <a:tc>
                  <a:txBody>
                    <a:bodyPr/>
                    <a:lstStyle/>
                    <a:p>
                      <a:pPr>
                        <a:buNone/>
                      </a:pPr>
                      <a:r>
                        <a:rPr lang="en-US"/>
                        <a:t>Only show usage statistics, no real-time intervention</a:t>
                      </a:r>
                    </a:p>
                  </a:txBody>
                  <a:tcPr anchor="ctr">
                    <a:lnL>
                      <a:noFill/>
                    </a:lnL>
                    <a:lnR>
                      <a:noFill/>
                    </a:lnR>
                    <a:lnT>
                      <a:noFill/>
                    </a:lnT>
                    <a:lnB>
                      <a:noFill/>
                    </a:lnB>
                    <a:noFill/>
                  </a:tcPr>
                </a:tc>
                <a:extLst>
                  <a:ext uri="{0D108BD9-81ED-4DB2-BD59-A6C34878D82A}">
                    <a16:rowId xmlns:a16="http://schemas.microsoft.com/office/drawing/2014/main" val="511971826"/>
                  </a:ext>
                </a:extLst>
              </a:tr>
              <a:tr h="0">
                <a:tc>
                  <a:txBody>
                    <a:bodyPr/>
                    <a:lstStyle/>
                    <a:p>
                      <a:pPr>
                        <a:buNone/>
                      </a:pPr>
                      <a:r>
                        <a:rPr lang="en-US"/>
                        <a:t>Manual self-discipline methods</a:t>
                      </a:r>
                    </a:p>
                  </a:txBody>
                  <a:tcPr anchor="ctr">
                    <a:lnL>
                      <a:noFill/>
                    </a:lnL>
                    <a:lnR>
                      <a:noFill/>
                    </a:lnR>
                    <a:lnT>
                      <a:noFill/>
                    </a:lnT>
                    <a:lnB>
                      <a:noFill/>
                    </a:lnB>
                    <a:noFill/>
                  </a:tcPr>
                </a:tc>
                <a:tc>
                  <a:txBody>
                    <a:bodyPr/>
                    <a:lstStyle/>
                    <a:p>
                      <a:pPr>
                        <a:buNone/>
                      </a:pPr>
                      <a:r>
                        <a:rPr lang="en-US"/>
                        <a:t>Not reliable and lack automation</a:t>
                      </a:r>
                    </a:p>
                  </a:txBody>
                  <a:tcPr anchor="ctr">
                    <a:lnL>
                      <a:noFill/>
                    </a:lnL>
                    <a:lnR>
                      <a:noFill/>
                    </a:lnR>
                    <a:lnT>
                      <a:noFill/>
                    </a:lnT>
                    <a:lnB>
                      <a:noFill/>
                    </a:lnB>
                    <a:noFill/>
                  </a:tcPr>
                </a:tc>
                <a:extLst>
                  <a:ext uri="{0D108BD9-81ED-4DB2-BD59-A6C34878D82A}">
                    <a16:rowId xmlns:a16="http://schemas.microsoft.com/office/drawing/2014/main" val="3479740277"/>
                  </a:ext>
                </a:extLst>
              </a:tr>
              <a:tr h="0">
                <a:tc>
                  <a:txBody>
                    <a:bodyPr/>
                    <a:lstStyle/>
                    <a:p>
                      <a:pPr>
                        <a:buNone/>
                      </a:pPr>
                      <a:r>
                        <a:rPr lang="en-US"/>
                        <a:t>Basic focus apps (Forest)</a:t>
                      </a:r>
                    </a:p>
                  </a:txBody>
                  <a:tcPr anchor="ctr">
                    <a:lnL>
                      <a:noFill/>
                    </a:lnL>
                    <a:lnR>
                      <a:noFill/>
                    </a:lnR>
                    <a:lnT>
                      <a:noFill/>
                    </a:lnT>
                    <a:lnB>
                      <a:noFill/>
                    </a:lnB>
                    <a:noFill/>
                  </a:tcPr>
                </a:tc>
                <a:tc>
                  <a:txBody>
                    <a:bodyPr/>
                    <a:lstStyle/>
                    <a:p>
                      <a:pPr>
                        <a:buNone/>
                      </a:pPr>
                      <a:r>
                        <a:rPr lang="en-US" dirty="0"/>
                        <a:t>Gamified but no actual behavior tracking</a:t>
                      </a:r>
                    </a:p>
                  </a:txBody>
                  <a:tcPr anchor="ctr">
                    <a:lnL>
                      <a:noFill/>
                    </a:lnL>
                    <a:lnR>
                      <a:noFill/>
                    </a:lnR>
                    <a:lnT>
                      <a:noFill/>
                    </a:lnT>
                    <a:lnB>
                      <a:noFill/>
                    </a:lnB>
                    <a:noFill/>
                  </a:tcPr>
                </a:tc>
                <a:extLst>
                  <a:ext uri="{0D108BD9-81ED-4DB2-BD59-A6C34878D82A}">
                    <a16:rowId xmlns:a16="http://schemas.microsoft.com/office/drawing/2014/main" val="1027086424"/>
                  </a:ext>
                </a:extLst>
              </a:tr>
            </a:tbl>
          </a:graphicData>
        </a:graphic>
      </p:graphicFrame>
    </p:spTree>
    <p:extLst>
      <p:ext uri="{BB962C8B-B14F-4D97-AF65-F5344CB8AC3E}">
        <p14:creationId xmlns:p14="http://schemas.microsoft.com/office/powerpoint/2010/main" val="1512796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C915E-5197-EF1F-48CA-183E6E2AC82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032098-5B95-C8EA-B552-5F0E46C3FD0D}"/>
              </a:ext>
            </a:extLst>
          </p:cNvPr>
          <p:cNvSpPr>
            <a:spLocks noGrp="1"/>
          </p:cNvSpPr>
          <p:nvPr>
            <p:ph idx="1"/>
          </p:nvPr>
        </p:nvSpPr>
        <p:spPr/>
        <p:txBody>
          <a:bodyPr>
            <a:normAutofit/>
          </a:bodyPr>
          <a:lstStyle/>
          <a:p>
            <a:r>
              <a:rPr lang="en-US" sz="2000" dirty="0"/>
              <a:t>Uses AI to monitor real-time focus.</a:t>
            </a:r>
          </a:p>
          <a:p>
            <a:r>
              <a:rPr lang="en-US" sz="2000" dirty="0"/>
              <a:t>Combines blocking with attention detection.</a:t>
            </a:r>
          </a:p>
          <a:p>
            <a:r>
              <a:rPr lang="en-US" sz="2000" dirty="0"/>
              <a:t>Provides real-time classification (Focused/ Distracted).</a:t>
            </a:r>
          </a:p>
          <a:p>
            <a:r>
              <a:rPr lang="en-US" sz="2000" dirty="0"/>
              <a:t>Fully automated system using ML/CNN.</a:t>
            </a:r>
          </a:p>
          <a:p>
            <a:r>
              <a:rPr lang="en-US" sz="2000" dirty="0"/>
              <a:t>Tracks eye gaze and head pose for accuracy.</a:t>
            </a:r>
            <a:endParaRPr lang="en-IN" sz="2000" dirty="0"/>
          </a:p>
          <a:p>
            <a:r>
              <a:rPr lang="en-IN" sz="2000" dirty="0"/>
              <a:t>Constant live webcam for 30 frames per second for classification.</a:t>
            </a:r>
            <a:endParaRPr lang="en-US" sz="2000" dirty="0"/>
          </a:p>
        </p:txBody>
      </p:sp>
      <p:sp>
        <p:nvSpPr>
          <p:cNvPr id="3" name="Title 2">
            <a:extLst>
              <a:ext uri="{FF2B5EF4-FFF2-40B4-BE49-F238E27FC236}">
                <a16:creationId xmlns:a16="http://schemas.microsoft.com/office/drawing/2014/main" id="{B7AE2F2A-CB33-DD6F-B63A-2612D50247A5}"/>
              </a:ext>
            </a:extLst>
          </p:cNvPr>
          <p:cNvSpPr>
            <a:spLocks noGrp="1"/>
          </p:cNvSpPr>
          <p:nvPr>
            <p:ph type="title"/>
          </p:nvPr>
        </p:nvSpPr>
        <p:spPr/>
        <p:txBody>
          <a:bodyPr>
            <a:normAutofit fontScale="90000"/>
          </a:bodyPr>
          <a:lstStyle/>
          <a:p>
            <a:pPr lvl="0"/>
            <a:r>
              <a:rPr lang="en-US" dirty="0"/>
              <a:t>Proposed System</a:t>
            </a:r>
            <a:br>
              <a:rPr lang="en-US" dirty="0"/>
            </a:br>
            <a:endParaRPr lang="en-IN" dirty="0"/>
          </a:p>
        </p:txBody>
      </p:sp>
    </p:spTree>
    <p:extLst>
      <p:ext uri="{BB962C8B-B14F-4D97-AF65-F5344CB8AC3E}">
        <p14:creationId xmlns:p14="http://schemas.microsoft.com/office/powerpoint/2010/main" val="3413349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a:t>To develop an AI-based system for monitoring user concentration in real time.</a:t>
            </a:r>
          </a:p>
          <a:p>
            <a:r>
              <a:rPr lang="en-US" sz="2000" dirty="0"/>
              <a:t>To track </a:t>
            </a:r>
            <a:r>
              <a:rPr lang="en-US" sz="2000" b="1" dirty="0"/>
              <a:t>eye gaze</a:t>
            </a:r>
            <a:r>
              <a:rPr lang="en-US" sz="2000" dirty="0"/>
              <a:t> using computer vision techniques.</a:t>
            </a:r>
          </a:p>
          <a:p>
            <a:r>
              <a:rPr lang="en-US" sz="2000" dirty="0"/>
              <a:t>To analyze </a:t>
            </a:r>
            <a:r>
              <a:rPr lang="en-US" sz="2000" b="1" dirty="0"/>
              <a:t>head pose</a:t>
            </a:r>
            <a:r>
              <a:rPr lang="en-US" sz="2000" dirty="0"/>
              <a:t> for detecting attention levels.</a:t>
            </a:r>
          </a:p>
          <a:p>
            <a:r>
              <a:rPr lang="en-US" sz="2000" dirty="0"/>
              <a:t>To classify user state as </a:t>
            </a:r>
            <a:r>
              <a:rPr lang="en-US" sz="2000" b="1" dirty="0"/>
              <a:t>Focused</a:t>
            </a:r>
            <a:r>
              <a:rPr lang="en-US" sz="2000" dirty="0"/>
              <a:t> or </a:t>
            </a:r>
            <a:r>
              <a:rPr lang="en-US" sz="2000" b="1" dirty="0"/>
              <a:t>Distracted</a:t>
            </a:r>
            <a:r>
              <a:rPr lang="en-US" sz="2000" dirty="0"/>
              <a:t> using ML/CNN models after training and evaluating.</a:t>
            </a:r>
          </a:p>
          <a:p>
            <a:r>
              <a:rPr lang="en-US" sz="2000" dirty="0"/>
              <a:t>To provide </a:t>
            </a:r>
            <a:r>
              <a:rPr lang="en-US" sz="2000" b="1" dirty="0"/>
              <a:t>real-time feedback</a:t>
            </a:r>
            <a:r>
              <a:rPr lang="en-US" sz="2000" dirty="0"/>
              <a:t> on user attention.</a:t>
            </a:r>
          </a:p>
        </p:txBody>
      </p:sp>
      <p:sp>
        <p:nvSpPr>
          <p:cNvPr id="3" name="Title 2"/>
          <p:cNvSpPr>
            <a:spLocks noGrp="1"/>
          </p:cNvSpPr>
          <p:nvPr>
            <p:ph type="title"/>
          </p:nvPr>
        </p:nvSpPr>
        <p:spPr/>
        <p:txBody>
          <a:bodyPr>
            <a:normAutofit fontScale="90000"/>
          </a:bodyPr>
          <a:lstStyle/>
          <a:p>
            <a:pPr lvl="0"/>
            <a:r>
              <a:rPr lang="en-US" dirty="0"/>
              <a:t>Objectives-features</a:t>
            </a:r>
            <a:br>
              <a:rPr lang="en-US" dirty="0"/>
            </a:br>
            <a:endParaRPr lang="en-IN" dirty="0"/>
          </a:p>
        </p:txBody>
      </p:sp>
    </p:spTree>
    <p:extLst>
      <p:ext uri="{BB962C8B-B14F-4D97-AF65-F5344CB8AC3E}">
        <p14:creationId xmlns:p14="http://schemas.microsoft.com/office/powerpoint/2010/main" val="497832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latin typeface="Calibri" pitchFamily="34" charset="0"/>
                <a:cs typeface="Calibri" pitchFamily="34" charset="0"/>
              </a:rPr>
              <a:t>Languages: </a:t>
            </a:r>
            <a:r>
              <a:rPr lang="en-US" sz="2000" dirty="0"/>
              <a:t>Python</a:t>
            </a:r>
          </a:p>
          <a:p>
            <a:r>
              <a:rPr lang="en-US" b="1" dirty="0">
                <a:latin typeface="Calibri" pitchFamily="34" charset="0"/>
                <a:cs typeface="Calibri" pitchFamily="34" charset="0"/>
              </a:rPr>
              <a:t>MAIN LIBRARIES: </a:t>
            </a:r>
            <a:r>
              <a:rPr lang="en-US" sz="2000" dirty="0"/>
              <a:t>OpenCV, TensorFlow / </a:t>
            </a:r>
            <a:r>
              <a:rPr lang="en-US" sz="2000" dirty="0" err="1"/>
              <a:t>Keras</a:t>
            </a:r>
            <a:r>
              <a:rPr lang="en-US" sz="2000" dirty="0"/>
              <a:t>  ,NumPy, Pandas, </a:t>
            </a:r>
            <a:r>
              <a:rPr lang="en-US" sz="2000" dirty="0" err="1"/>
              <a:t>Mediapipe</a:t>
            </a:r>
            <a:r>
              <a:rPr lang="en-US" sz="2000" dirty="0"/>
              <a:t>.</a:t>
            </a:r>
            <a:endParaRPr lang="en-US" sz="2000" b="1" dirty="0">
              <a:latin typeface="Calibri" pitchFamily="34" charset="0"/>
              <a:cs typeface="Calibri" pitchFamily="34" charset="0"/>
            </a:endParaRPr>
          </a:p>
          <a:p>
            <a:r>
              <a:rPr lang="en-US" b="1" dirty="0">
                <a:latin typeface="Calibri" pitchFamily="34" charset="0"/>
                <a:cs typeface="Calibri" pitchFamily="34" charset="0"/>
              </a:rPr>
              <a:t>Database: </a:t>
            </a:r>
          </a:p>
          <a:p>
            <a:r>
              <a:rPr lang="en-US" b="1" dirty="0">
                <a:latin typeface="Calibri" pitchFamily="34" charset="0"/>
                <a:cs typeface="Calibri" pitchFamily="34" charset="0"/>
              </a:rPr>
              <a:t>Tools/IDEs: </a:t>
            </a:r>
            <a:r>
              <a:rPr lang="en-US" sz="2000" dirty="0"/>
              <a:t>VS Code</a:t>
            </a:r>
            <a:endParaRPr lang="en-IN" sz="2000" b="1" dirty="0">
              <a:latin typeface="Calibri" pitchFamily="34" charset="0"/>
              <a:cs typeface="Calibri" pitchFamily="34" charset="0"/>
            </a:endParaRPr>
          </a:p>
        </p:txBody>
      </p:sp>
      <p:sp>
        <p:nvSpPr>
          <p:cNvPr id="3" name="Title 2"/>
          <p:cNvSpPr>
            <a:spLocks noGrp="1"/>
          </p:cNvSpPr>
          <p:nvPr>
            <p:ph type="title"/>
          </p:nvPr>
        </p:nvSpPr>
        <p:spPr/>
        <p:txBody>
          <a:bodyPr/>
          <a:lstStyle/>
          <a:p>
            <a:r>
              <a:rPr lang="en-US" dirty="0"/>
              <a:t>Software Requirements</a:t>
            </a:r>
            <a:endParaRPr lang="en-IN" dirty="0"/>
          </a:p>
        </p:txBody>
      </p:sp>
    </p:spTree>
    <p:extLst>
      <p:ext uri="{BB962C8B-B14F-4D97-AF65-F5344CB8AC3E}">
        <p14:creationId xmlns:p14="http://schemas.microsoft.com/office/powerpoint/2010/main" val="1010963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9552" y="1700808"/>
            <a:ext cx="8229600" cy="4525963"/>
          </a:xfrm>
        </p:spPr>
        <p:txBody>
          <a:bodyPr/>
          <a:lstStyle/>
          <a:p>
            <a:r>
              <a:rPr lang="en-US" b="1" dirty="0"/>
              <a:t>RAM: </a:t>
            </a:r>
            <a:r>
              <a:rPr lang="en-US" sz="2000" dirty="0"/>
              <a:t>MINIMUM 8 GB RAM</a:t>
            </a:r>
          </a:p>
          <a:p>
            <a:r>
              <a:rPr lang="en-US" b="1" dirty="0"/>
              <a:t>Disk Space:</a:t>
            </a:r>
            <a:r>
              <a:rPr lang="en-US" sz="2000" dirty="0"/>
              <a:t>10 GB FREE SPACE</a:t>
            </a:r>
          </a:p>
          <a:p>
            <a:r>
              <a:rPr lang="en-US" b="1" dirty="0"/>
              <a:t>Operating System: </a:t>
            </a:r>
            <a:r>
              <a:rPr lang="en-US" sz="2000" dirty="0"/>
              <a:t>WINDOWS</a:t>
            </a:r>
          </a:p>
          <a:p>
            <a:r>
              <a:rPr lang="en-US" b="1" dirty="0"/>
              <a:t>Processor: </a:t>
            </a:r>
            <a:r>
              <a:rPr lang="en-US" sz="2000" dirty="0"/>
              <a:t>INTEL i5 OR ABOVE</a:t>
            </a:r>
          </a:p>
          <a:p>
            <a:endParaRPr lang="en-IN" dirty="0"/>
          </a:p>
        </p:txBody>
      </p:sp>
      <p:sp>
        <p:nvSpPr>
          <p:cNvPr id="3" name="Title 2"/>
          <p:cNvSpPr>
            <a:spLocks noGrp="1"/>
          </p:cNvSpPr>
          <p:nvPr>
            <p:ph type="title"/>
          </p:nvPr>
        </p:nvSpPr>
        <p:spPr/>
        <p:txBody>
          <a:bodyPr/>
          <a:lstStyle/>
          <a:p>
            <a:pPr algn="ctr"/>
            <a:r>
              <a:rPr lang="en-US" dirty="0"/>
              <a:t>Hardware Requirements</a:t>
            </a:r>
            <a:endParaRPr lang="en-IN" dirty="0"/>
          </a:p>
        </p:txBody>
      </p:sp>
    </p:spTree>
    <p:extLst>
      <p:ext uri="{BB962C8B-B14F-4D97-AF65-F5344CB8AC3E}">
        <p14:creationId xmlns:p14="http://schemas.microsoft.com/office/powerpoint/2010/main" val="3375872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31FE02-E23C-62C9-9A63-7AF1746A95AA}"/>
              </a:ext>
            </a:extLst>
          </p:cNvPr>
          <p:cNvSpPr>
            <a:spLocks noGrp="1"/>
          </p:cNvSpPr>
          <p:nvPr>
            <p:ph type="title"/>
          </p:nvPr>
        </p:nvSpPr>
        <p:spPr>
          <a:xfrm>
            <a:off x="457200" y="139695"/>
            <a:ext cx="8229600" cy="1143000"/>
          </a:xfrm>
        </p:spPr>
        <p:txBody>
          <a:bodyPr>
            <a:normAutofit fontScale="90000"/>
          </a:bodyPr>
          <a:lstStyle/>
          <a:p>
            <a:r>
              <a:rPr lang="en-US" dirty="0"/>
              <a:t>PROPOSED SYSTEM ARCHITECTURE</a:t>
            </a:r>
          </a:p>
        </p:txBody>
      </p:sp>
      <p:sp>
        <p:nvSpPr>
          <p:cNvPr id="4" name="Rectangle: Rounded Corners 3">
            <a:extLst>
              <a:ext uri="{FF2B5EF4-FFF2-40B4-BE49-F238E27FC236}">
                <a16:creationId xmlns:a16="http://schemas.microsoft.com/office/drawing/2014/main" id="{D2952847-C488-9CC5-3B5F-E7678FCF8311}"/>
              </a:ext>
            </a:extLst>
          </p:cNvPr>
          <p:cNvSpPr/>
          <p:nvPr/>
        </p:nvSpPr>
        <p:spPr>
          <a:xfrm>
            <a:off x="3629319" y="1098029"/>
            <a:ext cx="1885361" cy="3693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C333F4C5-7466-A616-2529-31773D599221}"/>
              </a:ext>
            </a:extLst>
          </p:cNvPr>
          <p:cNvSpPr/>
          <p:nvPr/>
        </p:nvSpPr>
        <p:spPr>
          <a:xfrm>
            <a:off x="3619893" y="1670188"/>
            <a:ext cx="1885362" cy="4134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DD91F5E-E5E9-0296-6FFC-5002A1282ED6}"/>
              </a:ext>
            </a:extLst>
          </p:cNvPr>
          <p:cNvSpPr txBox="1"/>
          <p:nvPr/>
        </p:nvSpPr>
        <p:spPr>
          <a:xfrm>
            <a:off x="3629319" y="1113662"/>
            <a:ext cx="2036189" cy="369332"/>
          </a:xfrm>
          <a:prstGeom prst="rect">
            <a:avLst/>
          </a:prstGeom>
          <a:noFill/>
        </p:spPr>
        <p:txBody>
          <a:bodyPr wrap="square" rtlCol="0">
            <a:spAutoFit/>
          </a:bodyPr>
          <a:lstStyle/>
          <a:p>
            <a:r>
              <a:rPr lang="en-US" dirty="0"/>
              <a:t>Web Cam Input</a:t>
            </a:r>
          </a:p>
        </p:txBody>
      </p:sp>
      <p:sp>
        <p:nvSpPr>
          <p:cNvPr id="9" name="TextBox 8">
            <a:extLst>
              <a:ext uri="{FF2B5EF4-FFF2-40B4-BE49-F238E27FC236}">
                <a16:creationId xmlns:a16="http://schemas.microsoft.com/office/drawing/2014/main" id="{483CC8DA-D9ED-2CD1-11C6-E4EBDC3022DC}"/>
              </a:ext>
            </a:extLst>
          </p:cNvPr>
          <p:cNvSpPr txBox="1"/>
          <p:nvPr/>
        </p:nvSpPr>
        <p:spPr>
          <a:xfrm>
            <a:off x="3629319" y="1698805"/>
            <a:ext cx="2187018" cy="369332"/>
          </a:xfrm>
          <a:prstGeom prst="rect">
            <a:avLst/>
          </a:prstGeom>
          <a:noFill/>
        </p:spPr>
        <p:txBody>
          <a:bodyPr wrap="square" rtlCol="0">
            <a:spAutoFit/>
          </a:bodyPr>
          <a:lstStyle/>
          <a:p>
            <a:r>
              <a:rPr lang="en-US" dirty="0"/>
              <a:t>Video Capture</a:t>
            </a:r>
          </a:p>
        </p:txBody>
      </p:sp>
      <p:sp>
        <p:nvSpPr>
          <p:cNvPr id="10" name="Rectangle: Rounded Corners 9">
            <a:extLst>
              <a:ext uri="{FF2B5EF4-FFF2-40B4-BE49-F238E27FC236}">
                <a16:creationId xmlns:a16="http://schemas.microsoft.com/office/drawing/2014/main" id="{591179F6-A816-AA41-3E2E-0A88C0A70A20}"/>
              </a:ext>
            </a:extLst>
          </p:cNvPr>
          <p:cNvSpPr/>
          <p:nvPr/>
        </p:nvSpPr>
        <p:spPr>
          <a:xfrm>
            <a:off x="3629319" y="2288620"/>
            <a:ext cx="1885361" cy="4222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00BB4A6-C9CD-4DC8-B63E-45C189E5F396}"/>
              </a:ext>
            </a:extLst>
          </p:cNvPr>
          <p:cNvSpPr txBox="1"/>
          <p:nvPr/>
        </p:nvSpPr>
        <p:spPr>
          <a:xfrm>
            <a:off x="3629319" y="2320486"/>
            <a:ext cx="1885361" cy="369332"/>
          </a:xfrm>
          <a:prstGeom prst="rect">
            <a:avLst/>
          </a:prstGeom>
          <a:noFill/>
        </p:spPr>
        <p:txBody>
          <a:bodyPr wrap="square" rtlCol="0">
            <a:spAutoFit/>
          </a:bodyPr>
          <a:lstStyle/>
          <a:p>
            <a:r>
              <a:rPr lang="en-US" dirty="0"/>
              <a:t>Face Detection</a:t>
            </a:r>
          </a:p>
        </p:txBody>
      </p:sp>
      <p:sp>
        <p:nvSpPr>
          <p:cNvPr id="12" name="Rectangle: Rounded Corners 11">
            <a:extLst>
              <a:ext uri="{FF2B5EF4-FFF2-40B4-BE49-F238E27FC236}">
                <a16:creationId xmlns:a16="http://schemas.microsoft.com/office/drawing/2014/main" id="{0ED9E992-95D0-203B-A3F3-FFC95C626057}"/>
              </a:ext>
            </a:extLst>
          </p:cNvPr>
          <p:cNvSpPr/>
          <p:nvPr/>
        </p:nvSpPr>
        <p:spPr>
          <a:xfrm>
            <a:off x="3440785" y="2891440"/>
            <a:ext cx="2375552" cy="4044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5A263D0C-FC63-974C-5007-7E42E8BE8187}"/>
              </a:ext>
            </a:extLst>
          </p:cNvPr>
          <p:cNvSpPr/>
          <p:nvPr/>
        </p:nvSpPr>
        <p:spPr>
          <a:xfrm>
            <a:off x="3365369" y="3526429"/>
            <a:ext cx="2573518" cy="4222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5895D6EA-03C4-6CE7-DEC5-744AEE7A4B88}"/>
              </a:ext>
            </a:extLst>
          </p:cNvPr>
          <p:cNvSpPr/>
          <p:nvPr/>
        </p:nvSpPr>
        <p:spPr>
          <a:xfrm>
            <a:off x="3502056" y="4141393"/>
            <a:ext cx="2290714" cy="3693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CD0F6B28-E4A7-E6FF-10A7-AF1C20B75700}"/>
              </a:ext>
            </a:extLst>
          </p:cNvPr>
          <p:cNvSpPr/>
          <p:nvPr/>
        </p:nvSpPr>
        <p:spPr>
          <a:xfrm>
            <a:off x="3502056" y="4703413"/>
            <a:ext cx="2163452" cy="4178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A88BF80D-E7ED-3006-AE2F-30ACF4E8718B}"/>
              </a:ext>
            </a:extLst>
          </p:cNvPr>
          <p:cNvSpPr/>
          <p:nvPr/>
        </p:nvSpPr>
        <p:spPr>
          <a:xfrm>
            <a:off x="3502057" y="5306598"/>
            <a:ext cx="2436830" cy="3693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Focus Classification</a:t>
            </a:r>
            <a:endParaRPr lang="en-US" dirty="0">
              <a:solidFill>
                <a:schemeClr val="tx1"/>
              </a:solidFill>
            </a:endParaRPr>
          </a:p>
        </p:txBody>
      </p:sp>
      <p:sp>
        <p:nvSpPr>
          <p:cNvPr id="17" name="Rectangle: Rounded Corners 16">
            <a:extLst>
              <a:ext uri="{FF2B5EF4-FFF2-40B4-BE49-F238E27FC236}">
                <a16:creationId xmlns:a16="http://schemas.microsoft.com/office/drawing/2014/main" id="{A7EBB3F3-B5EA-0AFD-2776-F02EB2CDA302}"/>
              </a:ext>
            </a:extLst>
          </p:cNvPr>
          <p:cNvSpPr/>
          <p:nvPr/>
        </p:nvSpPr>
        <p:spPr>
          <a:xfrm>
            <a:off x="3619893" y="5846822"/>
            <a:ext cx="1875935" cy="3693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Action Module</a:t>
            </a:r>
            <a:endParaRPr lang="en-US" dirty="0">
              <a:solidFill>
                <a:schemeClr val="tx1"/>
              </a:solidFill>
            </a:endParaRPr>
          </a:p>
        </p:txBody>
      </p:sp>
      <p:sp>
        <p:nvSpPr>
          <p:cNvPr id="18" name="Rectangle: Rounded Corners 17">
            <a:extLst>
              <a:ext uri="{FF2B5EF4-FFF2-40B4-BE49-F238E27FC236}">
                <a16:creationId xmlns:a16="http://schemas.microsoft.com/office/drawing/2014/main" id="{357A6B20-CB05-10FC-B107-E5BF3A1C6A81}"/>
              </a:ext>
            </a:extLst>
          </p:cNvPr>
          <p:cNvSpPr/>
          <p:nvPr/>
        </p:nvSpPr>
        <p:spPr>
          <a:xfrm>
            <a:off x="3440785" y="6348973"/>
            <a:ext cx="2375552" cy="3693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Log Record</a:t>
            </a:r>
            <a:endParaRPr lang="en-US" dirty="0">
              <a:solidFill>
                <a:schemeClr val="tx1"/>
              </a:solidFill>
            </a:endParaRPr>
          </a:p>
        </p:txBody>
      </p:sp>
      <p:sp>
        <p:nvSpPr>
          <p:cNvPr id="20" name="TextBox 19">
            <a:extLst>
              <a:ext uri="{FF2B5EF4-FFF2-40B4-BE49-F238E27FC236}">
                <a16:creationId xmlns:a16="http://schemas.microsoft.com/office/drawing/2014/main" id="{68E5D4FB-190B-458E-976C-89FD3769405F}"/>
              </a:ext>
            </a:extLst>
          </p:cNvPr>
          <p:cNvSpPr txBox="1"/>
          <p:nvPr/>
        </p:nvSpPr>
        <p:spPr>
          <a:xfrm>
            <a:off x="3502056" y="2970248"/>
            <a:ext cx="2290714" cy="369332"/>
          </a:xfrm>
          <a:prstGeom prst="rect">
            <a:avLst/>
          </a:prstGeom>
          <a:noFill/>
        </p:spPr>
        <p:txBody>
          <a:bodyPr wrap="square" rtlCol="0">
            <a:spAutoFit/>
          </a:bodyPr>
          <a:lstStyle/>
          <a:p>
            <a:r>
              <a:rPr lang="en-IN" dirty="0"/>
              <a:t>Eye Gaze Tracking</a:t>
            </a:r>
            <a:endParaRPr lang="en-US" dirty="0"/>
          </a:p>
        </p:txBody>
      </p:sp>
      <p:sp>
        <p:nvSpPr>
          <p:cNvPr id="21" name="TextBox 20">
            <a:extLst>
              <a:ext uri="{FF2B5EF4-FFF2-40B4-BE49-F238E27FC236}">
                <a16:creationId xmlns:a16="http://schemas.microsoft.com/office/drawing/2014/main" id="{2BC48C3B-EAF7-C995-6A82-F6B3D5CF9454}"/>
              </a:ext>
            </a:extLst>
          </p:cNvPr>
          <p:cNvSpPr txBox="1"/>
          <p:nvPr/>
        </p:nvSpPr>
        <p:spPr>
          <a:xfrm>
            <a:off x="3440785" y="3572759"/>
            <a:ext cx="2658357" cy="369332"/>
          </a:xfrm>
          <a:prstGeom prst="rect">
            <a:avLst/>
          </a:prstGeom>
          <a:noFill/>
        </p:spPr>
        <p:txBody>
          <a:bodyPr wrap="square" rtlCol="0">
            <a:spAutoFit/>
          </a:bodyPr>
          <a:lstStyle/>
          <a:p>
            <a:r>
              <a:rPr lang="en-IN" dirty="0"/>
              <a:t>Head Pose Estimation</a:t>
            </a:r>
            <a:endParaRPr lang="en-US" dirty="0"/>
          </a:p>
        </p:txBody>
      </p:sp>
      <p:sp>
        <p:nvSpPr>
          <p:cNvPr id="22" name="TextBox 21">
            <a:extLst>
              <a:ext uri="{FF2B5EF4-FFF2-40B4-BE49-F238E27FC236}">
                <a16:creationId xmlns:a16="http://schemas.microsoft.com/office/drawing/2014/main" id="{98564F9E-3F23-4329-7187-7B0986E2F0C4}"/>
              </a:ext>
            </a:extLst>
          </p:cNvPr>
          <p:cNvSpPr txBox="1"/>
          <p:nvPr/>
        </p:nvSpPr>
        <p:spPr>
          <a:xfrm>
            <a:off x="3565688" y="4158734"/>
            <a:ext cx="2309568" cy="369332"/>
          </a:xfrm>
          <a:prstGeom prst="rect">
            <a:avLst/>
          </a:prstGeom>
          <a:noFill/>
        </p:spPr>
        <p:txBody>
          <a:bodyPr wrap="square" rtlCol="0">
            <a:spAutoFit/>
          </a:bodyPr>
          <a:lstStyle/>
          <a:p>
            <a:r>
              <a:rPr lang="en-IN" dirty="0"/>
              <a:t>Feature Extraction</a:t>
            </a:r>
            <a:endParaRPr lang="en-US" dirty="0"/>
          </a:p>
        </p:txBody>
      </p:sp>
      <p:sp>
        <p:nvSpPr>
          <p:cNvPr id="23" name="TextBox 22">
            <a:extLst>
              <a:ext uri="{FF2B5EF4-FFF2-40B4-BE49-F238E27FC236}">
                <a16:creationId xmlns:a16="http://schemas.microsoft.com/office/drawing/2014/main" id="{2F257083-5CEB-CB91-984F-F23A4321A9B8}"/>
              </a:ext>
            </a:extLst>
          </p:cNvPr>
          <p:cNvSpPr txBox="1"/>
          <p:nvPr/>
        </p:nvSpPr>
        <p:spPr>
          <a:xfrm>
            <a:off x="3565687" y="4779507"/>
            <a:ext cx="2163451" cy="369332"/>
          </a:xfrm>
          <a:prstGeom prst="rect">
            <a:avLst/>
          </a:prstGeom>
          <a:noFill/>
        </p:spPr>
        <p:txBody>
          <a:bodyPr wrap="square" rtlCol="0">
            <a:spAutoFit/>
          </a:bodyPr>
          <a:lstStyle/>
          <a:p>
            <a:r>
              <a:rPr lang="en-IN" dirty="0"/>
              <a:t>CNN / ML Model</a:t>
            </a:r>
            <a:endParaRPr lang="en-US" dirty="0"/>
          </a:p>
        </p:txBody>
      </p:sp>
      <p:cxnSp>
        <p:nvCxnSpPr>
          <p:cNvPr id="25" name="Straight Arrow Connector 24">
            <a:extLst>
              <a:ext uri="{FF2B5EF4-FFF2-40B4-BE49-F238E27FC236}">
                <a16:creationId xmlns:a16="http://schemas.microsoft.com/office/drawing/2014/main" id="{18BACC40-B60C-09BC-9BC5-52E9FF5B8608}"/>
              </a:ext>
            </a:extLst>
          </p:cNvPr>
          <p:cNvCxnSpPr>
            <a:stCxn id="4" idx="2"/>
          </p:cNvCxnSpPr>
          <p:nvPr/>
        </p:nvCxnSpPr>
        <p:spPr>
          <a:xfrm>
            <a:off x="4572000" y="1467361"/>
            <a:ext cx="0" cy="2028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DCDE5F9-0726-8776-248C-2FA0A77D9392}"/>
              </a:ext>
            </a:extLst>
          </p:cNvPr>
          <p:cNvCxnSpPr>
            <a:stCxn id="5" idx="2"/>
            <a:endCxn id="11" idx="0"/>
          </p:cNvCxnSpPr>
          <p:nvPr/>
        </p:nvCxnSpPr>
        <p:spPr>
          <a:xfrm>
            <a:off x="4562574" y="2083648"/>
            <a:ext cx="9426" cy="236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F7B8A5E-952D-27EA-34DC-0981C823F824}"/>
              </a:ext>
            </a:extLst>
          </p:cNvPr>
          <p:cNvCxnSpPr>
            <a:stCxn id="10" idx="2"/>
          </p:cNvCxnSpPr>
          <p:nvPr/>
        </p:nvCxnSpPr>
        <p:spPr>
          <a:xfrm flipH="1">
            <a:off x="4562574" y="2710896"/>
            <a:ext cx="9426" cy="1805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90F8E7E-CA98-86C5-4646-D039B5ECCD1B}"/>
              </a:ext>
            </a:extLst>
          </p:cNvPr>
          <p:cNvCxnSpPr>
            <a:stCxn id="20" idx="2"/>
            <a:endCxn id="13" idx="0"/>
          </p:cNvCxnSpPr>
          <p:nvPr/>
        </p:nvCxnSpPr>
        <p:spPr>
          <a:xfrm>
            <a:off x="4647413" y="3339580"/>
            <a:ext cx="4715" cy="1868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C648D74-ADD3-EC1B-7488-21F388470859}"/>
              </a:ext>
            </a:extLst>
          </p:cNvPr>
          <p:cNvCxnSpPr>
            <a:stCxn id="13" idx="2"/>
            <a:endCxn id="14" idx="0"/>
          </p:cNvCxnSpPr>
          <p:nvPr/>
        </p:nvCxnSpPr>
        <p:spPr>
          <a:xfrm flipH="1">
            <a:off x="4647413" y="3948705"/>
            <a:ext cx="4715" cy="1926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C2A9D28-94AF-B28A-EAEB-F3303E0307BC}"/>
              </a:ext>
            </a:extLst>
          </p:cNvPr>
          <p:cNvCxnSpPr>
            <a:stCxn id="22" idx="2"/>
          </p:cNvCxnSpPr>
          <p:nvPr/>
        </p:nvCxnSpPr>
        <p:spPr>
          <a:xfrm>
            <a:off x="4720472" y="4528066"/>
            <a:ext cx="2357" cy="175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5F6E3FF-5590-CFDA-1392-75AE6B396F60}"/>
              </a:ext>
            </a:extLst>
          </p:cNvPr>
          <p:cNvCxnSpPr>
            <a:stCxn id="23" idx="2"/>
          </p:cNvCxnSpPr>
          <p:nvPr/>
        </p:nvCxnSpPr>
        <p:spPr>
          <a:xfrm>
            <a:off x="4647413" y="5148839"/>
            <a:ext cx="0" cy="157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20F6BD6-BAE8-2EBC-1811-D3589F18A5DA}"/>
              </a:ext>
            </a:extLst>
          </p:cNvPr>
          <p:cNvCxnSpPr>
            <a:stCxn id="16" idx="2"/>
          </p:cNvCxnSpPr>
          <p:nvPr/>
        </p:nvCxnSpPr>
        <p:spPr>
          <a:xfrm>
            <a:off x="4720472" y="5675930"/>
            <a:ext cx="0" cy="1708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AB2D9E9-DFA6-CA82-A46D-210EF8869DF2}"/>
              </a:ext>
            </a:extLst>
          </p:cNvPr>
          <p:cNvCxnSpPr/>
          <p:nvPr/>
        </p:nvCxnSpPr>
        <p:spPr>
          <a:xfrm>
            <a:off x="4720472" y="6216154"/>
            <a:ext cx="0" cy="203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0703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dirty="0"/>
              <a:t>The system should capture real-time video using a webcam.</a:t>
            </a:r>
          </a:p>
          <a:p>
            <a:r>
              <a:rPr lang="en-US" sz="2000" dirty="0"/>
              <a:t>The system should track </a:t>
            </a:r>
            <a:r>
              <a:rPr lang="en-US" sz="2000" b="1" dirty="0"/>
              <a:t>eye gaze</a:t>
            </a:r>
            <a:r>
              <a:rPr lang="en-US" sz="2000" dirty="0"/>
              <a:t> movement.</a:t>
            </a:r>
          </a:p>
          <a:p>
            <a:r>
              <a:rPr lang="en-US" sz="2000" dirty="0"/>
              <a:t>The system should analyze </a:t>
            </a:r>
            <a:r>
              <a:rPr lang="en-US" sz="2000" b="1" dirty="0"/>
              <a:t>head pose</a:t>
            </a:r>
            <a:r>
              <a:rPr lang="en-US" sz="2000" dirty="0"/>
              <a:t>.</a:t>
            </a:r>
          </a:p>
          <a:p>
            <a:r>
              <a:rPr lang="en-US" sz="2000" dirty="0"/>
              <a:t>The system should process input data using ML/CNN models.</a:t>
            </a:r>
          </a:p>
          <a:p>
            <a:r>
              <a:rPr lang="en-US" sz="2000" dirty="0"/>
              <a:t>The system should classify the user as </a:t>
            </a:r>
            <a:r>
              <a:rPr lang="en-US" sz="2000" b="1" dirty="0"/>
              <a:t>Focused</a:t>
            </a:r>
            <a:r>
              <a:rPr lang="en-US" sz="2000" dirty="0"/>
              <a:t> or </a:t>
            </a:r>
            <a:r>
              <a:rPr lang="en-US" sz="2000" b="1" dirty="0"/>
              <a:t>Distracted</a:t>
            </a:r>
            <a:r>
              <a:rPr lang="en-US" sz="2000" dirty="0"/>
              <a:t>.</a:t>
            </a:r>
          </a:p>
          <a:p>
            <a:r>
              <a:rPr lang="en-US" sz="2000" dirty="0"/>
              <a:t>The system should provide real-time feedback to the user.</a:t>
            </a:r>
          </a:p>
        </p:txBody>
      </p:sp>
      <p:sp>
        <p:nvSpPr>
          <p:cNvPr id="3" name="Title 2"/>
          <p:cNvSpPr>
            <a:spLocks noGrp="1"/>
          </p:cNvSpPr>
          <p:nvPr>
            <p:ph type="title"/>
          </p:nvPr>
        </p:nvSpPr>
        <p:spPr/>
        <p:txBody>
          <a:bodyPr>
            <a:normAutofit fontScale="90000"/>
          </a:bodyPr>
          <a:lstStyle/>
          <a:p>
            <a:pPr lvl="0"/>
            <a:br>
              <a:rPr lang="en-US" dirty="0"/>
            </a:br>
            <a:r>
              <a:rPr lang="en-US" dirty="0"/>
              <a:t>Functional requirements</a:t>
            </a:r>
            <a:br>
              <a:rPr lang="en-US" dirty="0"/>
            </a:br>
            <a:endParaRPr lang="en-IN" dirty="0"/>
          </a:p>
        </p:txBody>
      </p:sp>
    </p:spTree>
    <p:extLst>
      <p:ext uri="{BB962C8B-B14F-4D97-AF65-F5344CB8AC3E}">
        <p14:creationId xmlns:p14="http://schemas.microsoft.com/office/powerpoint/2010/main" val="2715706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3CBB94-3041-99D6-E566-34C1805BA033}"/>
              </a:ext>
            </a:extLst>
          </p:cNvPr>
          <p:cNvSpPr>
            <a:spLocks noGrp="1"/>
          </p:cNvSpPr>
          <p:nvPr>
            <p:ph idx="1"/>
          </p:nvPr>
        </p:nvSpPr>
        <p:spPr/>
        <p:txBody>
          <a:bodyPr>
            <a:normAutofit/>
          </a:bodyPr>
          <a:lstStyle/>
          <a:p>
            <a:r>
              <a:rPr lang="en-US" sz="2000" dirty="0"/>
              <a:t>The system should have </a:t>
            </a:r>
            <a:r>
              <a:rPr lang="en-US" sz="2000" b="1" dirty="0"/>
              <a:t>high accuracy</a:t>
            </a:r>
            <a:r>
              <a:rPr lang="en-US" sz="2000" dirty="0"/>
              <a:t> in detecting focus levels.</a:t>
            </a:r>
          </a:p>
          <a:p>
            <a:r>
              <a:rPr lang="en-US" sz="2000" dirty="0"/>
              <a:t>The system should provide </a:t>
            </a:r>
            <a:r>
              <a:rPr lang="en-US" sz="2000" b="1" dirty="0"/>
              <a:t>real-time performance</a:t>
            </a:r>
            <a:r>
              <a:rPr lang="en-US" sz="2000" dirty="0"/>
              <a:t> with minimal delay.</a:t>
            </a:r>
          </a:p>
          <a:p>
            <a:r>
              <a:rPr lang="en-US" sz="2000" dirty="0"/>
              <a:t>The system should be </a:t>
            </a:r>
            <a:r>
              <a:rPr lang="en-US" sz="2000" b="1" dirty="0"/>
              <a:t>user-friendly and easy to use</a:t>
            </a:r>
            <a:r>
              <a:rPr lang="en-US" sz="2000" dirty="0"/>
              <a:t>.</a:t>
            </a:r>
          </a:p>
          <a:p>
            <a:r>
              <a:rPr lang="en-US" sz="2000" dirty="0"/>
              <a:t>The system should be </a:t>
            </a:r>
            <a:r>
              <a:rPr lang="en-US" sz="2000" b="1" dirty="0"/>
              <a:t>reliable and stable</a:t>
            </a:r>
            <a:r>
              <a:rPr lang="en-US" sz="2000" dirty="0"/>
              <a:t> during operation.</a:t>
            </a:r>
          </a:p>
          <a:p>
            <a:r>
              <a:rPr lang="en-US" sz="2000" dirty="0"/>
              <a:t>The system should ensure </a:t>
            </a:r>
            <a:r>
              <a:rPr lang="en-US" sz="2000" b="1" dirty="0"/>
              <a:t>data privacy</a:t>
            </a:r>
            <a:r>
              <a:rPr lang="en-US" sz="2000" dirty="0"/>
              <a:t> (no unnecessary data storage).</a:t>
            </a:r>
          </a:p>
          <a:p>
            <a:r>
              <a:rPr lang="en-US" sz="2000" dirty="0"/>
              <a:t>The system should be </a:t>
            </a:r>
            <a:r>
              <a:rPr lang="en-US" sz="2000" b="1" dirty="0"/>
              <a:t>efficient in resource usage</a:t>
            </a:r>
            <a:r>
              <a:rPr lang="en-US" sz="2000" dirty="0"/>
              <a:t> (CPU, memory).</a:t>
            </a:r>
          </a:p>
          <a:p>
            <a:r>
              <a:rPr lang="en-US" sz="2000" dirty="0"/>
              <a:t>The system should be </a:t>
            </a:r>
            <a:r>
              <a:rPr lang="en-US" sz="2000" b="1" dirty="0"/>
              <a:t>scalable</a:t>
            </a:r>
            <a:r>
              <a:rPr lang="en-US" sz="2000" dirty="0"/>
              <a:t> for future improvements.</a:t>
            </a:r>
          </a:p>
        </p:txBody>
      </p:sp>
      <p:sp>
        <p:nvSpPr>
          <p:cNvPr id="3" name="Title 2">
            <a:extLst>
              <a:ext uri="{FF2B5EF4-FFF2-40B4-BE49-F238E27FC236}">
                <a16:creationId xmlns:a16="http://schemas.microsoft.com/office/drawing/2014/main" id="{DBDD6C6C-3101-22C8-B8B3-B54781F6BA5F}"/>
              </a:ext>
            </a:extLst>
          </p:cNvPr>
          <p:cNvSpPr>
            <a:spLocks noGrp="1"/>
          </p:cNvSpPr>
          <p:nvPr>
            <p:ph type="title"/>
          </p:nvPr>
        </p:nvSpPr>
        <p:spPr/>
        <p:txBody>
          <a:bodyPr>
            <a:normAutofit/>
          </a:bodyPr>
          <a:lstStyle/>
          <a:p>
            <a:r>
              <a:rPr lang="en-US" dirty="0"/>
              <a:t>Non-Function Requirements</a:t>
            </a:r>
          </a:p>
        </p:txBody>
      </p:sp>
    </p:spTree>
    <p:extLst>
      <p:ext uri="{BB962C8B-B14F-4D97-AF65-F5344CB8AC3E}">
        <p14:creationId xmlns:p14="http://schemas.microsoft.com/office/powerpoint/2010/main" val="366518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CA2233-9401-5659-E1CB-8A736AD004ED}"/>
              </a:ext>
            </a:extLst>
          </p:cNvPr>
          <p:cNvSpPr>
            <a:spLocks noGrp="1"/>
          </p:cNvSpPr>
          <p:nvPr>
            <p:ph type="title"/>
          </p:nvPr>
        </p:nvSpPr>
        <p:spPr/>
        <p:txBody>
          <a:bodyPr/>
          <a:lstStyle/>
          <a:p>
            <a:r>
              <a:rPr lang="en-US" dirty="0"/>
              <a:t>Use Case Diagram</a:t>
            </a:r>
          </a:p>
        </p:txBody>
      </p:sp>
      <p:pic>
        <p:nvPicPr>
          <p:cNvPr id="13" name="Content Placeholder 12">
            <a:extLst>
              <a:ext uri="{FF2B5EF4-FFF2-40B4-BE49-F238E27FC236}">
                <a16:creationId xmlns:a16="http://schemas.microsoft.com/office/drawing/2014/main" id="{CD925753-25DC-61BA-8231-9096E7026C22}"/>
              </a:ext>
            </a:extLst>
          </p:cNvPr>
          <p:cNvPicPr>
            <a:picLocks noGrp="1" noChangeAspect="1"/>
          </p:cNvPicPr>
          <p:nvPr>
            <p:ph idx="1"/>
          </p:nvPr>
        </p:nvPicPr>
        <p:blipFill>
          <a:blip r:embed="rId2"/>
          <a:stretch>
            <a:fillRect/>
          </a:stretch>
        </p:blipFill>
        <p:spPr>
          <a:xfrm>
            <a:off x="947196" y="1481138"/>
            <a:ext cx="7249608" cy="4525962"/>
          </a:xfrm>
          <a:prstGeom prst="rect">
            <a:avLst/>
          </a:prstGeom>
        </p:spPr>
      </p:pic>
    </p:spTree>
    <p:extLst>
      <p:ext uri="{BB962C8B-B14F-4D97-AF65-F5344CB8AC3E}">
        <p14:creationId xmlns:p14="http://schemas.microsoft.com/office/powerpoint/2010/main" val="3016468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A294582-1B87-B1F0-1BEF-DD63FE260BCC}"/>
              </a:ext>
            </a:extLst>
          </p:cNvPr>
          <p:cNvPicPr>
            <a:picLocks noGrp="1" noChangeAspect="1"/>
          </p:cNvPicPr>
          <p:nvPr>
            <p:ph idx="1"/>
          </p:nvPr>
        </p:nvPicPr>
        <p:blipFill>
          <a:blip r:embed="rId2"/>
          <a:stretch>
            <a:fillRect/>
          </a:stretch>
        </p:blipFill>
        <p:spPr>
          <a:xfrm>
            <a:off x="529848" y="1481138"/>
            <a:ext cx="8084304" cy="4525962"/>
          </a:xfrm>
          <a:prstGeom prst="rect">
            <a:avLst/>
          </a:prstGeom>
        </p:spPr>
      </p:pic>
      <p:sp>
        <p:nvSpPr>
          <p:cNvPr id="3" name="Title 2">
            <a:extLst>
              <a:ext uri="{FF2B5EF4-FFF2-40B4-BE49-F238E27FC236}">
                <a16:creationId xmlns:a16="http://schemas.microsoft.com/office/drawing/2014/main" id="{EF3A76AA-262B-B35B-90C1-888687787A79}"/>
              </a:ext>
            </a:extLst>
          </p:cNvPr>
          <p:cNvSpPr>
            <a:spLocks noGrp="1"/>
          </p:cNvSpPr>
          <p:nvPr>
            <p:ph type="title"/>
          </p:nvPr>
        </p:nvSpPr>
        <p:spPr/>
        <p:txBody>
          <a:bodyPr/>
          <a:lstStyle/>
          <a:p>
            <a:r>
              <a:rPr lang="en-US" dirty="0"/>
              <a:t>Sequence Diagram</a:t>
            </a:r>
          </a:p>
        </p:txBody>
      </p:sp>
    </p:spTree>
    <p:extLst>
      <p:ext uri="{BB962C8B-B14F-4D97-AF65-F5344CB8AC3E}">
        <p14:creationId xmlns:p14="http://schemas.microsoft.com/office/powerpoint/2010/main" val="2839606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90F2EE-8BC8-20EB-0BD2-C719B1DDE4B9}"/>
              </a:ext>
            </a:extLst>
          </p:cNvPr>
          <p:cNvSpPr>
            <a:spLocks noGrp="1"/>
          </p:cNvSpPr>
          <p:nvPr>
            <p:ph type="title"/>
          </p:nvPr>
        </p:nvSpPr>
        <p:spPr/>
        <p:txBody>
          <a:bodyPr/>
          <a:lstStyle/>
          <a:p>
            <a:r>
              <a:rPr lang="en-US" dirty="0"/>
              <a:t>Activity Diagram</a:t>
            </a:r>
          </a:p>
        </p:txBody>
      </p:sp>
      <p:pic>
        <p:nvPicPr>
          <p:cNvPr id="9" name="Content Placeholder 8">
            <a:extLst>
              <a:ext uri="{FF2B5EF4-FFF2-40B4-BE49-F238E27FC236}">
                <a16:creationId xmlns:a16="http://schemas.microsoft.com/office/drawing/2014/main" id="{18392715-8F5B-7C14-BC68-64B1AA35DB1C}"/>
              </a:ext>
            </a:extLst>
          </p:cNvPr>
          <p:cNvPicPr>
            <a:picLocks noGrp="1" noChangeAspect="1"/>
          </p:cNvPicPr>
          <p:nvPr>
            <p:ph idx="1"/>
          </p:nvPr>
        </p:nvPicPr>
        <p:blipFill>
          <a:blip r:embed="rId2"/>
          <a:stretch>
            <a:fillRect/>
          </a:stretch>
        </p:blipFill>
        <p:spPr>
          <a:xfrm>
            <a:off x="1948156" y="1481138"/>
            <a:ext cx="5247687" cy="4525962"/>
          </a:xfrm>
          <a:prstGeom prst="rect">
            <a:avLst/>
          </a:prstGeom>
        </p:spPr>
      </p:pic>
    </p:spTree>
    <p:extLst>
      <p:ext uri="{BB962C8B-B14F-4D97-AF65-F5344CB8AC3E}">
        <p14:creationId xmlns:p14="http://schemas.microsoft.com/office/powerpoint/2010/main" val="2256380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5A56AAE-CE9B-50CA-A8DF-6D01D56534A7}"/>
              </a:ext>
            </a:extLst>
          </p:cNvPr>
          <p:cNvPicPr>
            <a:picLocks noGrp="1" noChangeAspect="1"/>
          </p:cNvPicPr>
          <p:nvPr>
            <p:ph idx="1"/>
          </p:nvPr>
        </p:nvPicPr>
        <p:blipFill>
          <a:blip r:embed="rId2"/>
          <a:stretch>
            <a:fillRect/>
          </a:stretch>
        </p:blipFill>
        <p:spPr>
          <a:xfrm>
            <a:off x="1516470" y="1481138"/>
            <a:ext cx="6111060" cy="4525962"/>
          </a:xfrm>
          <a:prstGeom prst="rect">
            <a:avLst/>
          </a:prstGeom>
        </p:spPr>
      </p:pic>
      <p:sp>
        <p:nvSpPr>
          <p:cNvPr id="3" name="Title 2">
            <a:extLst>
              <a:ext uri="{FF2B5EF4-FFF2-40B4-BE49-F238E27FC236}">
                <a16:creationId xmlns:a16="http://schemas.microsoft.com/office/drawing/2014/main" id="{86944BC3-FA70-A4A5-1BC7-9EC975692CA0}"/>
              </a:ext>
            </a:extLst>
          </p:cNvPr>
          <p:cNvSpPr>
            <a:spLocks noGrp="1"/>
          </p:cNvSpPr>
          <p:nvPr>
            <p:ph type="title"/>
          </p:nvPr>
        </p:nvSpPr>
        <p:spPr/>
        <p:txBody>
          <a:bodyPr/>
          <a:lstStyle/>
          <a:p>
            <a:r>
              <a:rPr lang="en-US" dirty="0"/>
              <a:t>Deployment Diagram</a:t>
            </a:r>
          </a:p>
        </p:txBody>
      </p:sp>
    </p:spTree>
    <p:extLst>
      <p:ext uri="{BB962C8B-B14F-4D97-AF65-F5344CB8AC3E}">
        <p14:creationId xmlns:p14="http://schemas.microsoft.com/office/powerpoint/2010/main" val="2983820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57A45A-AA10-BF26-B06D-E53C24678FC1}"/>
              </a:ext>
            </a:extLst>
          </p:cNvPr>
          <p:cNvSpPr>
            <a:spLocks noGrp="1"/>
          </p:cNvSpPr>
          <p:nvPr>
            <p:ph type="title"/>
          </p:nvPr>
        </p:nvSpPr>
        <p:spPr/>
        <p:txBody>
          <a:bodyPr>
            <a:normAutofit fontScale="90000"/>
          </a:bodyPr>
          <a:lstStyle/>
          <a:p>
            <a:r>
              <a:rPr lang="en-US" sz="4000" dirty="0"/>
              <a:t>Methodology  Implementation along with Sample Code</a:t>
            </a:r>
            <a:endParaRPr lang="en-US" dirty="0"/>
          </a:p>
        </p:txBody>
      </p:sp>
      <p:pic>
        <p:nvPicPr>
          <p:cNvPr id="9" name="Content Placeholder 8">
            <a:extLst>
              <a:ext uri="{FF2B5EF4-FFF2-40B4-BE49-F238E27FC236}">
                <a16:creationId xmlns:a16="http://schemas.microsoft.com/office/drawing/2014/main" id="{A6ED840D-4FFC-AC42-6F55-869DD9343A27}"/>
              </a:ext>
            </a:extLst>
          </p:cNvPr>
          <p:cNvPicPr>
            <a:picLocks noGrp="1" noChangeAspect="1"/>
          </p:cNvPicPr>
          <p:nvPr>
            <p:ph idx="1"/>
          </p:nvPr>
        </p:nvPicPr>
        <p:blipFill>
          <a:blip r:embed="rId2"/>
          <a:stretch>
            <a:fillRect/>
          </a:stretch>
        </p:blipFill>
        <p:spPr>
          <a:xfrm>
            <a:off x="1090491" y="1481138"/>
            <a:ext cx="6963018" cy="4525962"/>
          </a:xfrm>
          <a:prstGeom prst="rect">
            <a:avLst/>
          </a:prstGeom>
        </p:spPr>
      </p:pic>
    </p:spTree>
    <p:extLst>
      <p:ext uri="{BB962C8B-B14F-4D97-AF65-F5344CB8AC3E}">
        <p14:creationId xmlns:p14="http://schemas.microsoft.com/office/powerpoint/2010/main" val="226672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AD2D5D-E1B1-0B5E-1DA4-941EF1D70DEF}"/>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A78A743E-3562-F468-87C4-C70793F20714}"/>
              </a:ext>
            </a:extLst>
          </p:cNvPr>
          <p:cNvPicPr>
            <a:picLocks noGrp="1" noChangeAspect="1"/>
          </p:cNvPicPr>
          <p:nvPr>
            <p:ph idx="1"/>
          </p:nvPr>
        </p:nvPicPr>
        <p:blipFill>
          <a:blip r:embed="rId2"/>
          <a:stretch>
            <a:fillRect/>
          </a:stretch>
        </p:blipFill>
        <p:spPr>
          <a:xfrm>
            <a:off x="1090491" y="1481138"/>
            <a:ext cx="6963018" cy="4525962"/>
          </a:xfrm>
          <a:prstGeom prst="rect">
            <a:avLst/>
          </a:prstGeom>
        </p:spPr>
      </p:pic>
    </p:spTree>
    <p:extLst>
      <p:ext uri="{BB962C8B-B14F-4D97-AF65-F5344CB8AC3E}">
        <p14:creationId xmlns:p14="http://schemas.microsoft.com/office/powerpoint/2010/main" val="3002812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5D2A8B-0834-9F68-5105-9DEF560BF98D}"/>
              </a:ext>
            </a:extLst>
          </p:cNvPr>
          <p:cNvSpPr>
            <a:spLocks noGrp="1"/>
          </p:cNvSpPr>
          <p:nvPr>
            <p:ph type="title"/>
          </p:nvPr>
        </p:nvSpPr>
        <p:spPr/>
        <p:txBody>
          <a:bodyPr>
            <a:normAutofit/>
          </a:bodyPr>
          <a:lstStyle/>
          <a:p>
            <a:r>
              <a:rPr lang="en-US" dirty="0"/>
              <a:t>Result:</a:t>
            </a:r>
          </a:p>
        </p:txBody>
      </p:sp>
      <p:pic>
        <p:nvPicPr>
          <p:cNvPr id="6" name="Content Placeholder 5">
            <a:extLst>
              <a:ext uri="{FF2B5EF4-FFF2-40B4-BE49-F238E27FC236}">
                <a16:creationId xmlns:a16="http://schemas.microsoft.com/office/drawing/2014/main" id="{14BF3DF0-8546-EA4A-99B5-5F4E1CA1DE83}"/>
              </a:ext>
            </a:extLst>
          </p:cNvPr>
          <p:cNvPicPr>
            <a:picLocks noGrp="1" noChangeAspect="1"/>
          </p:cNvPicPr>
          <p:nvPr>
            <p:ph idx="1"/>
          </p:nvPr>
        </p:nvPicPr>
        <p:blipFill>
          <a:blip r:embed="rId2"/>
          <a:stretch>
            <a:fillRect/>
          </a:stretch>
        </p:blipFill>
        <p:spPr>
          <a:xfrm>
            <a:off x="1090491" y="1481138"/>
            <a:ext cx="6963018" cy="4525962"/>
          </a:xfrm>
          <a:prstGeom prst="rect">
            <a:avLst/>
          </a:prstGeom>
        </p:spPr>
      </p:pic>
    </p:spTree>
    <p:extLst>
      <p:ext uri="{BB962C8B-B14F-4D97-AF65-F5344CB8AC3E}">
        <p14:creationId xmlns:p14="http://schemas.microsoft.com/office/powerpoint/2010/main" val="435604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02D694-40D5-6AFD-7742-4C23ACF1D114}"/>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9C377003-784E-F5CF-CE5E-31E737D98F36}"/>
              </a:ext>
            </a:extLst>
          </p:cNvPr>
          <p:cNvPicPr>
            <a:picLocks noGrp="1" noChangeAspect="1"/>
          </p:cNvPicPr>
          <p:nvPr>
            <p:ph idx="1"/>
          </p:nvPr>
        </p:nvPicPr>
        <p:blipFill>
          <a:blip r:embed="rId2"/>
          <a:stretch>
            <a:fillRect/>
          </a:stretch>
        </p:blipFill>
        <p:spPr>
          <a:xfrm>
            <a:off x="1090491" y="1481138"/>
            <a:ext cx="6963018" cy="4525962"/>
          </a:xfrm>
          <a:prstGeom prst="rect">
            <a:avLst/>
          </a:prstGeom>
        </p:spPr>
      </p:pic>
    </p:spTree>
    <p:extLst>
      <p:ext uri="{BB962C8B-B14F-4D97-AF65-F5344CB8AC3E}">
        <p14:creationId xmlns:p14="http://schemas.microsoft.com/office/powerpoint/2010/main" val="2694442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lvl="0"/>
            <a:br>
              <a:rPr lang="en-US" sz="3800" dirty="0"/>
            </a:br>
            <a:br>
              <a:rPr lang="en-US" dirty="0"/>
            </a:br>
            <a:endParaRPr lang="en-IN" dirty="0"/>
          </a:p>
        </p:txBody>
      </p:sp>
      <p:pic>
        <p:nvPicPr>
          <p:cNvPr id="7" name="Content Placeholder 6">
            <a:extLst>
              <a:ext uri="{FF2B5EF4-FFF2-40B4-BE49-F238E27FC236}">
                <a16:creationId xmlns:a16="http://schemas.microsoft.com/office/drawing/2014/main" id="{9F53AFB1-C6C1-8476-D3B1-4EE10FF2FBA1}"/>
              </a:ext>
            </a:extLst>
          </p:cNvPr>
          <p:cNvPicPr>
            <a:picLocks noGrp="1" noChangeAspect="1"/>
          </p:cNvPicPr>
          <p:nvPr>
            <p:ph idx="1"/>
          </p:nvPr>
        </p:nvPicPr>
        <p:blipFill>
          <a:blip r:embed="rId2"/>
          <a:stretch>
            <a:fillRect/>
          </a:stretch>
        </p:blipFill>
        <p:spPr>
          <a:xfrm>
            <a:off x="1090491" y="1481138"/>
            <a:ext cx="6963018" cy="4525962"/>
          </a:xfrm>
          <a:prstGeom prst="rect">
            <a:avLst/>
          </a:prstGeom>
        </p:spPr>
      </p:pic>
    </p:spTree>
    <p:extLst>
      <p:ext uri="{BB962C8B-B14F-4D97-AF65-F5344CB8AC3E}">
        <p14:creationId xmlns:p14="http://schemas.microsoft.com/office/powerpoint/2010/main" val="2047687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82744D-65D8-E1EC-29E4-FE32EFF3ABF1}"/>
              </a:ext>
            </a:extLst>
          </p:cNvPr>
          <p:cNvSpPr>
            <a:spLocks noGrp="1"/>
          </p:cNvSpPr>
          <p:nvPr>
            <p:ph type="title"/>
          </p:nvPr>
        </p:nvSpPr>
        <p:spPr/>
        <p:txBody>
          <a:bodyPr/>
          <a:lstStyle/>
          <a:p>
            <a:endParaRPr lang="en-US"/>
          </a:p>
        </p:txBody>
      </p:sp>
      <p:pic>
        <p:nvPicPr>
          <p:cNvPr id="19" name="Content Placeholder 18">
            <a:extLst>
              <a:ext uri="{FF2B5EF4-FFF2-40B4-BE49-F238E27FC236}">
                <a16:creationId xmlns:a16="http://schemas.microsoft.com/office/drawing/2014/main" id="{FA78D916-82F8-BD27-E7F7-F1D147A0B2A1}"/>
              </a:ext>
            </a:extLst>
          </p:cNvPr>
          <p:cNvPicPr>
            <a:picLocks noGrp="1" noChangeAspect="1"/>
          </p:cNvPicPr>
          <p:nvPr>
            <p:ph idx="1"/>
          </p:nvPr>
        </p:nvPicPr>
        <p:blipFill>
          <a:blip r:embed="rId2"/>
          <a:stretch>
            <a:fillRect/>
          </a:stretch>
        </p:blipFill>
        <p:spPr>
          <a:xfrm>
            <a:off x="1090491" y="1481138"/>
            <a:ext cx="6963018" cy="4525962"/>
          </a:xfrm>
          <a:prstGeom prst="rect">
            <a:avLst/>
          </a:prstGeom>
        </p:spPr>
      </p:pic>
    </p:spTree>
    <p:extLst>
      <p:ext uri="{BB962C8B-B14F-4D97-AF65-F5344CB8AC3E}">
        <p14:creationId xmlns:p14="http://schemas.microsoft.com/office/powerpoint/2010/main" val="76982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8B6C38-7BE1-3D39-33BE-F45B35019C82}"/>
              </a:ext>
            </a:extLst>
          </p:cNvPr>
          <p:cNvSpPr>
            <a:spLocks noGrp="1"/>
          </p:cNvSpPr>
          <p:nvPr>
            <p:ph idx="1"/>
          </p:nvPr>
        </p:nvSpPr>
        <p:spPr/>
        <p:txBody>
          <a:bodyPr>
            <a:normAutofit/>
          </a:bodyPr>
          <a:lstStyle/>
          <a:p>
            <a:r>
              <a:rPr lang="en-US" sz="2000" dirty="0"/>
              <a:t>The system successfully implements real-time user attention monitoring using Computer Vision techniques.</a:t>
            </a:r>
          </a:p>
          <a:p>
            <a:r>
              <a:rPr lang="en-US" sz="2000" dirty="0"/>
              <a:t>The system demonstrates a practical integration of machine learning and system-level controls for productivity enhancement.</a:t>
            </a:r>
          </a:p>
          <a:p>
            <a:r>
              <a:rPr lang="en-US" sz="2000" dirty="0"/>
              <a:t>Overall, the solution is lightweight, modular, and suitable for real-world deployment in academic and professional environments.</a:t>
            </a:r>
            <a:endParaRPr lang="en-IN" sz="2000" dirty="0"/>
          </a:p>
        </p:txBody>
      </p:sp>
      <p:sp>
        <p:nvSpPr>
          <p:cNvPr id="3" name="Title 2">
            <a:extLst>
              <a:ext uri="{FF2B5EF4-FFF2-40B4-BE49-F238E27FC236}">
                <a16:creationId xmlns:a16="http://schemas.microsoft.com/office/drawing/2014/main" id="{C51D853B-8164-B19F-A567-53774939F8E4}"/>
              </a:ext>
            </a:extLst>
          </p:cNvPr>
          <p:cNvSpPr>
            <a:spLocks noGrp="1"/>
          </p:cNvSpPr>
          <p:nvPr>
            <p:ph type="title"/>
          </p:nvPr>
        </p:nvSpPr>
        <p:spPr/>
        <p:txBody>
          <a:bodyPr>
            <a:normAutofit/>
          </a:bodyPr>
          <a:lstStyle/>
          <a:p>
            <a:r>
              <a:rPr lang="en-GB" dirty="0"/>
              <a:t>Conclusion</a:t>
            </a:r>
            <a:endParaRPr lang="en-IN" dirty="0"/>
          </a:p>
        </p:txBody>
      </p:sp>
    </p:spTree>
    <p:extLst>
      <p:ext uri="{BB962C8B-B14F-4D97-AF65-F5344CB8AC3E}">
        <p14:creationId xmlns:p14="http://schemas.microsoft.com/office/powerpoint/2010/main" val="2401733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4FA710-665E-37AB-3D7F-1051237CB6F4}"/>
              </a:ext>
            </a:extLst>
          </p:cNvPr>
          <p:cNvSpPr>
            <a:spLocks noGrp="1"/>
          </p:cNvSpPr>
          <p:nvPr>
            <p:ph idx="1"/>
          </p:nvPr>
        </p:nvSpPr>
        <p:spPr/>
        <p:txBody>
          <a:bodyPr>
            <a:normAutofit/>
          </a:bodyPr>
          <a:lstStyle/>
          <a:p>
            <a:r>
              <a:rPr lang="en-US" sz="2000" dirty="0"/>
              <a:t>A multi-level warning system (with alerts and sound notifications) ensures user awareness before enforcing restrictions.</a:t>
            </a:r>
          </a:p>
          <a:p>
            <a:r>
              <a:rPr lang="en-US" sz="2000" dirty="0"/>
              <a:t>Development of a cross-platform system (Windows, Linux, Android).</a:t>
            </a:r>
          </a:p>
          <a:p>
            <a:r>
              <a:rPr lang="en-US" sz="2000" dirty="0"/>
              <a:t>Integration with cloud services for logging, analytics, and performance tracking.</a:t>
            </a:r>
          </a:p>
        </p:txBody>
      </p:sp>
      <p:sp>
        <p:nvSpPr>
          <p:cNvPr id="3" name="Title 2">
            <a:extLst>
              <a:ext uri="{FF2B5EF4-FFF2-40B4-BE49-F238E27FC236}">
                <a16:creationId xmlns:a16="http://schemas.microsoft.com/office/drawing/2014/main" id="{4053E4F4-3516-8731-2B71-4E1B48225188}"/>
              </a:ext>
            </a:extLst>
          </p:cNvPr>
          <p:cNvSpPr>
            <a:spLocks noGrp="1"/>
          </p:cNvSpPr>
          <p:nvPr>
            <p:ph type="title"/>
          </p:nvPr>
        </p:nvSpPr>
        <p:spPr/>
        <p:txBody>
          <a:bodyPr/>
          <a:lstStyle/>
          <a:p>
            <a:r>
              <a:rPr lang="en-US" dirty="0"/>
              <a:t>FUTURE SCOPE</a:t>
            </a:r>
          </a:p>
        </p:txBody>
      </p:sp>
    </p:spTree>
    <p:extLst>
      <p:ext uri="{BB962C8B-B14F-4D97-AF65-F5344CB8AC3E}">
        <p14:creationId xmlns:p14="http://schemas.microsoft.com/office/powerpoint/2010/main" val="461169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92975"/>
            <a:ext cx="8229600" cy="4525963"/>
          </a:xfrm>
        </p:spPr>
        <p:txBody>
          <a:bodyPr>
            <a:normAutofit/>
          </a:bodyPr>
          <a:lstStyle/>
          <a:p>
            <a:r>
              <a:rPr lang="en-GB" sz="2000" dirty="0"/>
              <a:t>[1].</a:t>
            </a:r>
            <a:r>
              <a:rPr lang="en-US" sz="2000" dirty="0"/>
              <a:t> Hands-On Machine Learning with Scikit-Learn, </a:t>
            </a:r>
            <a:r>
              <a:rPr lang="en-US" sz="2000" dirty="0" err="1"/>
              <a:t>Keras</a:t>
            </a:r>
            <a:r>
              <a:rPr lang="en-US" sz="2000" dirty="0"/>
              <a:t> &amp; TensorFlow (2nd Edition Updated for TensorFlow 2 ) by OREILLY</a:t>
            </a:r>
            <a:endParaRPr lang="en-GB" sz="2000" dirty="0"/>
          </a:p>
          <a:p>
            <a:r>
              <a:rPr lang="en-GB" sz="2000" dirty="0"/>
              <a:t>[2].</a:t>
            </a:r>
            <a:r>
              <a:rPr lang="en-US" sz="2000" dirty="0"/>
              <a:t> </a:t>
            </a:r>
            <a:r>
              <a:rPr lang="en-US" sz="2000" dirty="0" err="1"/>
              <a:t>Tensorflow</a:t>
            </a:r>
            <a:r>
              <a:rPr lang="en-US" sz="2000" dirty="0"/>
              <a:t> Documentation An End-to-End Open Source Machine Learning Platform. Available at: https://www.tensorflow.org/</a:t>
            </a:r>
            <a:endParaRPr lang="en-GB" sz="2000" dirty="0"/>
          </a:p>
          <a:p>
            <a:r>
              <a:rPr lang="en-GB" sz="2000" dirty="0"/>
              <a:t>[3].</a:t>
            </a:r>
            <a:r>
              <a:rPr lang="en-US" sz="2000" dirty="0"/>
              <a:t> </a:t>
            </a:r>
            <a:r>
              <a:rPr lang="en-US" sz="2000" dirty="0" err="1"/>
              <a:t>GeeksforGeeks</a:t>
            </a:r>
            <a:r>
              <a:rPr lang="en-US" sz="2000" dirty="0"/>
              <a:t>. Face Detection using Python and OpenCV. Available at: https://www.geeksforgeeks.org/face-detection-using-opencv-python/</a:t>
            </a:r>
            <a:endParaRPr lang="en-GB" sz="2000" dirty="0"/>
          </a:p>
        </p:txBody>
      </p:sp>
      <p:sp>
        <p:nvSpPr>
          <p:cNvPr id="3" name="Title 2"/>
          <p:cNvSpPr>
            <a:spLocks noGrp="1"/>
          </p:cNvSpPr>
          <p:nvPr>
            <p:ph type="title"/>
          </p:nvPr>
        </p:nvSpPr>
        <p:spPr/>
        <p:txBody>
          <a:bodyPr>
            <a:normAutofit fontScale="90000"/>
          </a:bodyPr>
          <a:lstStyle/>
          <a:p>
            <a:pPr lvl="0"/>
            <a:r>
              <a:rPr lang="en-US" dirty="0"/>
              <a:t>References</a:t>
            </a:r>
            <a:br>
              <a:rPr lang="en-US" dirty="0"/>
            </a:br>
            <a:endParaRPr lang="en-IN" dirty="0"/>
          </a:p>
        </p:txBody>
      </p:sp>
    </p:spTree>
    <p:extLst>
      <p:ext uri="{BB962C8B-B14F-4D97-AF65-F5344CB8AC3E}">
        <p14:creationId xmlns:p14="http://schemas.microsoft.com/office/powerpoint/2010/main" val="22349248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4"/>
          <p:cNvSpPr txBox="1">
            <a:spLocks noGrp="1"/>
          </p:cNvSpPr>
          <p:nvPr>
            <p:ph type="subTitle" idx="1"/>
          </p:nvPr>
        </p:nvSpPr>
        <p:spPr>
          <a:xfrm>
            <a:off x="685800" y="471948"/>
            <a:ext cx="7772400" cy="4339359"/>
          </a:xfrm>
          <a:prstGeom prst="rect">
            <a:avLst/>
          </a:prstGeom>
          <a:noFill/>
          <a:ln>
            <a:noFill/>
          </a:ln>
        </p:spPr>
        <p:txBody>
          <a:bodyPr spcFirstLastPara="1" wrap="square" lIns="45700" tIns="45700" rIns="45700" bIns="45700" anchor="t" anchorCtr="0">
            <a:noAutofit/>
          </a:bodyPr>
          <a:lstStyle/>
          <a:p>
            <a:pPr marL="0" lvl="0" indent="0" algn="ctr" rtl="0">
              <a:spcBef>
                <a:spcPts val="400"/>
              </a:spcBef>
              <a:spcAft>
                <a:spcPts val="0"/>
              </a:spcAft>
              <a:buNone/>
            </a:pPr>
            <a:endParaRPr lang="en-GB" dirty="0"/>
          </a:p>
          <a:p>
            <a:pPr marL="0" lvl="0" indent="0" algn="ctr" rtl="0">
              <a:spcBef>
                <a:spcPts val="400"/>
              </a:spcBef>
              <a:spcAft>
                <a:spcPts val="0"/>
              </a:spcAft>
              <a:buNone/>
            </a:pPr>
            <a:endParaRPr lang="en-GB" dirty="0"/>
          </a:p>
          <a:p>
            <a:pPr marL="0" lvl="0" indent="0" algn="ctr" rtl="0">
              <a:spcBef>
                <a:spcPts val="400"/>
              </a:spcBef>
              <a:spcAft>
                <a:spcPts val="0"/>
              </a:spcAft>
              <a:buNone/>
            </a:pPr>
            <a:endParaRPr lang="en-GB" dirty="0"/>
          </a:p>
          <a:p>
            <a:pPr marL="0" lvl="0" indent="0" algn="ctr" rtl="0">
              <a:spcBef>
                <a:spcPts val="400"/>
              </a:spcBef>
              <a:spcAft>
                <a:spcPts val="0"/>
              </a:spcAft>
              <a:buNone/>
            </a:pPr>
            <a:endParaRPr lang="en-GB" dirty="0"/>
          </a:p>
          <a:p>
            <a:pPr marL="0" lvl="0" indent="0" algn="ctr" rtl="0">
              <a:spcBef>
                <a:spcPts val="400"/>
              </a:spcBef>
              <a:spcAft>
                <a:spcPts val="0"/>
              </a:spcAft>
              <a:buNone/>
            </a:pPr>
            <a:endParaRPr lang="en-GB" dirty="0"/>
          </a:p>
          <a:p>
            <a:pPr marL="0" lvl="0" indent="0" algn="ctr" rtl="0">
              <a:spcBef>
                <a:spcPts val="400"/>
              </a:spcBef>
              <a:spcAft>
                <a:spcPts val="0"/>
              </a:spcAft>
              <a:buNone/>
            </a:pPr>
            <a:r>
              <a:rPr lang="en-GB" dirty="0"/>
              <a:t>Thank you</a:t>
            </a:r>
            <a:endParaRPr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AY_IGNORE_UCW" val="true"/>
  <p:tag name="PPT/NOTESMASTERS/NOTESMASTER1.XML" val="3342416373"/>
  <p:tag name="PPT/NOTESSLIDES/NOTESSLIDE1.XML" val="732038687"/>
  <p:tag name="PPT/SLIDES/SLIDE7.XML" val="202416906"/>
  <p:tag name="PPT/SLIDES/SLIDE3.XML" val="3000389335"/>
  <p:tag name="PPT/THEME/THEME2.XML" val="3520736427"/>
  <p:tag name="PPT/SLIDES/SLIDE1.XML" val="3079446035"/>
  <p:tag name="PPT/NOTESSLIDES/NOTESSLIDE2.XML" val="3217023394"/>
  <p:tag name="PPT/SLIDES/SLIDE6.XML" val="336172540"/>
  <p:tag name="PPT/SLIDES/SLIDE2.XML" val="3225013204"/>
  <p:tag name="PPT/SLIDES/SLIDE4.XML" val="4277083425"/>
  <p:tag name="PPT/SLIDES/SLIDE5.XML" val="3634802493"/>
  <p:tag name="PPT/SLIDELAYOUTS/SLIDELAYOUT11.XML" val="708723177"/>
  <p:tag name="PPT/SLIDELAYOUTS/SLIDELAYOUT3.XML" val="2415542003"/>
  <p:tag name="PPT/SLIDELAYOUTS/SLIDELAYOUT2.XML" val="2868036188"/>
  <p:tag name="PPT/SLIDELAYOUTS/SLIDELAYOUT1.XML" val="2404199055"/>
  <p:tag name="PPT/SLIDEMASTERS/SLIDEMASTER1.XML" val="4075563660"/>
  <p:tag name="PPT/SLIDELAYOUTS/SLIDELAYOUT4.XML" val="2162813636"/>
  <p:tag name="PPT/SLIDELAYOUTS/SLIDELAYOUT6.XML" val="3416921023"/>
  <p:tag name="PPT/SLIDELAYOUTS/SLIDELAYOUT10.XML" val="1354617139"/>
  <p:tag name="PPT/SLIDELAYOUTS/SLIDELAYOUT5.XML" val="2380332523"/>
  <p:tag name="PPT/SLIDELAYOUTS/SLIDELAYOUT9.XML" val="3470237638"/>
  <p:tag name="PPT/SLIDELAYOUTS/SLIDELAYOUT7.XML" val="708863170"/>
  <p:tag name="PPT/SLIDELAYOUTS/SLIDELAYOUT8.XML" val="164330248"/>
  <p:tag name="PPT/THEME/THEME1.XML" val="2452160330"/>
  <p:tag name="PPT/MEDIA/IMAGE1.JPEG" val="3114202309"/>
  <p:tag name="PPT/MEDIA/IMAGE2.PNG" val="855061463"/>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1173</TotalTime>
  <Words>852</Words>
  <Application>Microsoft Office PowerPoint</Application>
  <PresentationFormat>On-screen Show (4:3)</PresentationFormat>
  <Paragraphs>117</Paragraphs>
  <Slides>26</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Arial</vt:lpstr>
      <vt:lpstr>Calibri</vt:lpstr>
      <vt:lpstr>Cg omega</vt:lpstr>
      <vt:lpstr>Lucida Sans</vt:lpstr>
      <vt:lpstr>Lucida Sans Unicode</vt:lpstr>
      <vt:lpstr>Times New Roman</vt:lpstr>
      <vt:lpstr>Verdana</vt:lpstr>
      <vt:lpstr>Wingdings 2</vt:lpstr>
      <vt:lpstr>Wingdings 3</vt:lpstr>
      <vt:lpstr>Concourse</vt:lpstr>
      <vt:lpstr>CVR COLLEGE OF ENGINEERING </vt:lpstr>
      <vt:lpstr>Abstract</vt:lpstr>
      <vt:lpstr>Introduction</vt:lpstr>
      <vt:lpstr>Problem definition </vt:lpstr>
      <vt:lpstr>Existing System </vt:lpstr>
      <vt:lpstr>Proposed System </vt:lpstr>
      <vt:lpstr>Objectives-features </vt:lpstr>
      <vt:lpstr>Software Requirements</vt:lpstr>
      <vt:lpstr>Hardware Requirements</vt:lpstr>
      <vt:lpstr>PROPOSED SYSTEM ARCHITECTURE</vt:lpstr>
      <vt:lpstr> Functional requirements </vt:lpstr>
      <vt:lpstr>Non-Function Requirements</vt:lpstr>
      <vt:lpstr>Use Case Diagram</vt:lpstr>
      <vt:lpstr>Sequence Diagram</vt:lpstr>
      <vt:lpstr>Activity Diagram</vt:lpstr>
      <vt:lpstr>Deployment Diagram</vt:lpstr>
      <vt:lpstr>Methodology  Implementation along with Sample Code</vt:lpstr>
      <vt:lpstr>PowerPoint Presentation</vt:lpstr>
      <vt:lpstr>Result:</vt:lpstr>
      <vt:lpstr>PowerPoint Presentation</vt:lpstr>
      <vt:lpstr>  </vt:lpstr>
      <vt:lpstr>PowerPoint Presentation</vt:lpstr>
      <vt:lpstr>Conclusion</vt:lpstr>
      <vt:lpstr>FUTURE SCOPE</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CVR COLLEGE OF ENGINEERING</dc:title>
  <dc:creator>Abdul Azeem</dc:creator>
  <cp:lastModifiedBy>Abdul Azeem</cp:lastModifiedBy>
  <cp:revision>21</cp:revision>
  <dcterms:modified xsi:type="dcterms:W3CDTF">2026-04-24T07:07:08Z</dcterms:modified>
</cp:coreProperties>
</file>